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70" r:id="rId2"/>
    <p:sldId id="258" r:id="rId3"/>
    <p:sldId id="257" r:id="rId4"/>
    <p:sldId id="266" r:id="rId5"/>
    <p:sldId id="259" r:id="rId6"/>
    <p:sldId id="260" r:id="rId7"/>
    <p:sldId id="261" r:id="rId8"/>
    <p:sldId id="263" r:id="rId9"/>
    <p:sldId id="273" r:id="rId10"/>
    <p:sldId id="264" r:id="rId11"/>
    <p:sldId id="272" r:id="rId12"/>
    <p:sldId id="269" r:id="rId13"/>
    <p:sldId id="271"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81A307-0B19-4FB6-BB72-57DD3FC8124A}" v="10" dt="2025-09-11T10:46:06.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203" autoAdjust="0"/>
  </p:normalViewPr>
  <p:slideViewPr>
    <p:cSldViewPr snapToGrid="0">
      <p:cViewPr varScale="1">
        <p:scale>
          <a:sx n="77" d="100"/>
          <a:sy n="77" d="100"/>
        </p:scale>
        <p:origin x="88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VAN KK" userId="fdf95ffb0d03b0d1" providerId="LiveId" clId="{6EBED7A4-3858-46E9-84BC-50A9DBD2A612}"/>
    <pc:docChg chg="undo custSel addSld delSld modSld sldOrd">
      <pc:chgData name="BHUVAN KK" userId="fdf95ffb0d03b0d1" providerId="LiveId" clId="{6EBED7A4-3858-46E9-84BC-50A9DBD2A612}" dt="2025-09-15T09:39:46.743" v="939" actId="47"/>
      <pc:docMkLst>
        <pc:docMk/>
      </pc:docMkLst>
      <pc:sldChg chg="delSp modSp new del mod">
        <pc:chgData name="BHUVAN KK" userId="fdf95ffb0d03b0d1" providerId="LiveId" clId="{6EBED7A4-3858-46E9-84BC-50A9DBD2A612}" dt="2025-09-10T16:37:53.040" v="57" actId="47"/>
        <pc:sldMkLst>
          <pc:docMk/>
          <pc:sldMk cId="3484065772" sldId="256"/>
        </pc:sldMkLst>
      </pc:sldChg>
      <pc:sldChg chg="delSp modSp new mod ord">
        <pc:chgData name="BHUVAN KK" userId="fdf95ffb0d03b0d1" providerId="LiveId" clId="{6EBED7A4-3858-46E9-84BC-50A9DBD2A612}" dt="2025-09-11T17:08:51.113" v="629" actId="115"/>
        <pc:sldMkLst>
          <pc:docMk/>
          <pc:sldMk cId="1447954941" sldId="257"/>
        </pc:sldMkLst>
        <pc:spChg chg="mod">
          <ac:chgData name="BHUVAN KK" userId="fdf95ffb0d03b0d1" providerId="LiveId" clId="{6EBED7A4-3858-46E9-84BC-50A9DBD2A612}" dt="2025-09-11T17:08:51.113" v="629" actId="115"/>
          <ac:spMkLst>
            <pc:docMk/>
            <pc:sldMk cId="1447954941" sldId="257"/>
            <ac:spMk id="3" creationId="{D3295C0F-27ED-2F6E-CE0F-9C49514502BE}"/>
          </ac:spMkLst>
        </pc:spChg>
      </pc:sldChg>
      <pc:sldChg chg="modSp new mod ord">
        <pc:chgData name="BHUVAN KK" userId="fdf95ffb0d03b0d1" providerId="LiveId" clId="{6EBED7A4-3858-46E9-84BC-50A9DBD2A612}" dt="2025-09-11T17:06:11.248" v="627" actId="1076"/>
        <pc:sldMkLst>
          <pc:docMk/>
          <pc:sldMk cId="3736338273" sldId="258"/>
        </pc:sldMkLst>
        <pc:spChg chg="mod">
          <ac:chgData name="BHUVAN KK" userId="fdf95ffb0d03b0d1" providerId="LiveId" clId="{6EBED7A4-3858-46E9-84BC-50A9DBD2A612}" dt="2025-09-10T16:55:36.428" v="118"/>
          <ac:spMkLst>
            <pc:docMk/>
            <pc:sldMk cId="3736338273" sldId="258"/>
            <ac:spMk id="2" creationId="{6078928F-061A-1015-EDF8-8B9682D11931}"/>
          </ac:spMkLst>
        </pc:spChg>
        <pc:spChg chg="mod">
          <ac:chgData name="BHUVAN KK" userId="fdf95ffb0d03b0d1" providerId="LiveId" clId="{6EBED7A4-3858-46E9-84BC-50A9DBD2A612}" dt="2025-09-11T17:06:11.248" v="627" actId="1076"/>
          <ac:spMkLst>
            <pc:docMk/>
            <pc:sldMk cId="3736338273" sldId="258"/>
            <ac:spMk id="3" creationId="{54E12AE6-44B2-5D98-E81E-AC7242279764}"/>
          </ac:spMkLst>
        </pc:spChg>
      </pc:sldChg>
      <pc:sldChg chg="delSp modSp new mod ord">
        <pc:chgData name="BHUVAN KK" userId="fdf95ffb0d03b0d1" providerId="LiveId" clId="{6EBED7A4-3858-46E9-84BC-50A9DBD2A612}" dt="2025-09-11T17:14:24.582" v="648" actId="20577"/>
        <pc:sldMkLst>
          <pc:docMk/>
          <pc:sldMk cId="1069967703" sldId="259"/>
        </pc:sldMkLst>
        <pc:spChg chg="mod">
          <ac:chgData name="BHUVAN KK" userId="fdf95ffb0d03b0d1" providerId="LiveId" clId="{6EBED7A4-3858-46E9-84BC-50A9DBD2A612}" dt="2025-09-11T17:14:24.582" v="648" actId="20577"/>
          <ac:spMkLst>
            <pc:docMk/>
            <pc:sldMk cId="1069967703" sldId="259"/>
            <ac:spMk id="3" creationId="{0EFA56D0-2DE4-CD6C-480D-10100C84A0D7}"/>
          </ac:spMkLst>
        </pc:spChg>
      </pc:sldChg>
      <pc:sldChg chg="delSp modSp new mod">
        <pc:chgData name="BHUVAN KK" userId="fdf95ffb0d03b0d1" providerId="LiveId" clId="{6EBED7A4-3858-46E9-84BC-50A9DBD2A612}" dt="2025-09-11T11:14:43.950" v="337" actId="14100"/>
        <pc:sldMkLst>
          <pc:docMk/>
          <pc:sldMk cId="2301914869" sldId="260"/>
        </pc:sldMkLst>
        <pc:spChg chg="mod">
          <ac:chgData name="BHUVAN KK" userId="fdf95ffb0d03b0d1" providerId="LiveId" clId="{6EBED7A4-3858-46E9-84BC-50A9DBD2A612}" dt="2025-09-11T11:14:43.950" v="337" actId="14100"/>
          <ac:spMkLst>
            <pc:docMk/>
            <pc:sldMk cId="2301914869" sldId="260"/>
            <ac:spMk id="3" creationId="{BA936136-B0A3-C41C-5AC6-1187B4C9B2C0}"/>
          </ac:spMkLst>
        </pc:spChg>
      </pc:sldChg>
      <pc:sldChg chg="delSp modSp new mod">
        <pc:chgData name="BHUVAN KK" userId="fdf95ffb0d03b0d1" providerId="LiveId" clId="{6EBED7A4-3858-46E9-84BC-50A9DBD2A612}" dt="2025-09-11T17:14:45.190" v="652" actId="20577"/>
        <pc:sldMkLst>
          <pc:docMk/>
          <pc:sldMk cId="2380387670" sldId="261"/>
        </pc:sldMkLst>
        <pc:spChg chg="mod">
          <ac:chgData name="BHUVAN KK" userId="fdf95ffb0d03b0d1" providerId="LiveId" clId="{6EBED7A4-3858-46E9-84BC-50A9DBD2A612}" dt="2025-09-11T17:14:45.190" v="652" actId="20577"/>
          <ac:spMkLst>
            <pc:docMk/>
            <pc:sldMk cId="2380387670" sldId="261"/>
            <ac:spMk id="3" creationId="{6FCDA7B9-9A67-D60E-4B2C-7CDCFEB6B640}"/>
          </ac:spMkLst>
        </pc:spChg>
      </pc:sldChg>
      <pc:sldChg chg="new del">
        <pc:chgData name="BHUVAN KK" userId="fdf95ffb0d03b0d1" providerId="LiveId" clId="{6EBED7A4-3858-46E9-84BC-50A9DBD2A612}" dt="2025-09-11T11:02:20.755" v="215" actId="47"/>
        <pc:sldMkLst>
          <pc:docMk/>
          <pc:sldMk cId="479997612" sldId="262"/>
        </pc:sldMkLst>
      </pc:sldChg>
      <pc:sldChg chg="addSp delSp modSp new del mod">
        <pc:chgData name="BHUVAN KK" userId="fdf95ffb0d03b0d1" providerId="LiveId" clId="{6EBED7A4-3858-46E9-84BC-50A9DBD2A612}" dt="2025-09-11T11:02:08.272" v="212" actId="2696"/>
        <pc:sldMkLst>
          <pc:docMk/>
          <pc:sldMk cId="2523136711" sldId="262"/>
        </pc:sldMkLst>
      </pc:sldChg>
      <pc:sldChg chg="addSp modSp new mod">
        <pc:chgData name="BHUVAN KK" userId="fdf95ffb0d03b0d1" providerId="LiveId" clId="{6EBED7A4-3858-46E9-84BC-50A9DBD2A612}" dt="2025-09-11T17:15:24.954" v="659" actId="113"/>
        <pc:sldMkLst>
          <pc:docMk/>
          <pc:sldMk cId="952949324" sldId="263"/>
        </pc:sldMkLst>
        <pc:spChg chg="add mod">
          <ac:chgData name="BHUVAN KK" userId="fdf95ffb0d03b0d1" providerId="LiveId" clId="{6EBED7A4-3858-46E9-84BC-50A9DBD2A612}" dt="2025-09-11T17:14:56.417" v="655" actId="20577"/>
          <ac:spMkLst>
            <pc:docMk/>
            <pc:sldMk cId="952949324" sldId="263"/>
            <ac:spMk id="3" creationId="{99CDE3FE-395E-6AA1-1A2A-B178C925D224}"/>
          </ac:spMkLst>
        </pc:spChg>
      </pc:sldChg>
      <pc:sldChg chg="addSp delSp modSp new mod">
        <pc:chgData name="BHUVAN KK" userId="fdf95ffb0d03b0d1" providerId="LiveId" clId="{6EBED7A4-3858-46E9-84BC-50A9DBD2A612}" dt="2025-09-11T17:15:54.005" v="661" actId="255"/>
        <pc:sldMkLst>
          <pc:docMk/>
          <pc:sldMk cId="1491368349" sldId="264"/>
        </pc:sldMkLst>
        <pc:spChg chg="add mod">
          <ac:chgData name="BHUVAN KK" userId="fdf95ffb0d03b0d1" providerId="LiveId" clId="{6EBED7A4-3858-46E9-84BC-50A9DBD2A612}" dt="2025-09-11T17:15:03.820" v="658" actId="20577"/>
          <ac:spMkLst>
            <pc:docMk/>
            <pc:sldMk cId="1491368349" sldId="264"/>
            <ac:spMk id="7" creationId="{261343D9-8396-E404-BBC7-EDD1ECE8469B}"/>
          </ac:spMkLst>
        </pc:spChg>
      </pc:sldChg>
      <pc:sldChg chg="addSp modSp new mod">
        <pc:chgData name="BHUVAN KK" userId="fdf95ffb0d03b0d1" providerId="LiveId" clId="{6EBED7A4-3858-46E9-84BC-50A9DBD2A612}" dt="2025-09-11T17:20:26.060" v="671" actId="1076"/>
        <pc:sldMkLst>
          <pc:docMk/>
          <pc:sldMk cId="924080143" sldId="265"/>
        </pc:sldMkLst>
        <pc:spChg chg="add mod">
          <ac:chgData name="BHUVAN KK" userId="fdf95ffb0d03b0d1" providerId="LiveId" clId="{6EBED7A4-3858-46E9-84BC-50A9DBD2A612}" dt="2025-09-11T17:20:26.060" v="671" actId="1076"/>
          <ac:spMkLst>
            <pc:docMk/>
            <pc:sldMk cId="924080143" sldId="265"/>
            <ac:spMk id="2" creationId="{6E8DCA51-1C97-126A-0F4F-895279149CA3}"/>
          </ac:spMkLst>
        </pc:spChg>
        <pc:picChg chg="add mod">
          <ac:chgData name="BHUVAN KK" userId="fdf95ffb0d03b0d1" providerId="LiveId" clId="{6EBED7A4-3858-46E9-84BC-50A9DBD2A612}" dt="2025-09-11T17:20:19.411" v="670" actId="1076"/>
          <ac:picMkLst>
            <pc:docMk/>
            <pc:sldMk cId="924080143" sldId="265"/>
            <ac:picMk id="2050" creationId="{B76CF9AF-4A59-5495-7376-342814EDE939}"/>
          </ac:picMkLst>
        </pc:picChg>
      </pc:sldChg>
      <pc:sldChg chg="addSp modSp new add del mod ord">
        <pc:chgData name="BHUVAN KK" userId="fdf95ffb0d03b0d1" providerId="LiveId" clId="{6EBED7A4-3858-46E9-84BC-50A9DBD2A612}" dt="2025-09-15T09:39:43.630" v="938"/>
        <pc:sldMkLst>
          <pc:docMk/>
          <pc:sldMk cId="3924547560" sldId="266"/>
        </pc:sldMkLst>
        <pc:spChg chg="add mod">
          <ac:chgData name="BHUVAN KK" userId="fdf95ffb0d03b0d1" providerId="LiveId" clId="{6EBED7A4-3858-46E9-84BC-50A9DBD2A612}" dt="2025-09-11T11:22:11.983" v="490" actId="14100"/>
          <ac:spMkLst>
            <pc:docMk/>
            <pc:sldMk cId="3924547560" sldId="266"/>
            <ac:spMk id="2" creationId="{AD558A40-03A1-8844-84FB-53AAA5D8564C}"/>
          </ac:spMkLst>
        </pc:spChg>
      </pc:sldChg>
      <pc:sldChg chg="new del">
        <pc:chgData name="BHUVAN KK" userId="fdf95ffb0d03b0d1" providerId="LiveId" clId="{6EBED7A4-3858-46E9-84BC-50A9DBD2A612}" dt="2025-09-11T16:52:40.357" v="495" actId="2696"/>
        <pc:sldMkLst>
          <pc:docMk/>
          <pc:sldMk cId="3612016842" sldId="267"/>
        </pc:sldMkLst>
      </pc:sldChg>
      <pc:sldChg chg="addSp delSp modSp add del mod">
        <pc:chgData name="BHUVAN KK" userId="fdf95ffb0d03b0d1" providerId="LiveId" clId="{6EBED7A4-3858-46E9-84BC-50A9DBD2A612}" dt="2025-09-15T09:39:46.743" v="939" actId="47"/>
        <pc:sldMkLst>
          <pc:docMk/>
          <pc:sldMk cId="2500988551" sldId="268"/>
        </pc:sldMkLst>
      </pc:sldChg>
      <pc:sldChg chg="addSp delSp modSp new mod">
        <pc:chgData name="BHUVAN KK" userId="fdf95ffb0d03b0d1" providerId="LiveId" clId="{6EBED7A4-3858-46E9-84BC-50A9DBD2A612}" dt="2025-09-11T17:04:45.480" v="625" actId="1076"/>
        <pc:sldMkLst>
          <pc:docMk/>
          <pc:sldMk cId="4252306277" sldId="269"/>
        </pc:sldMkLst>
        <pc:spChg chg="add mod">
          <ac:chgData name="BHUVAN KK" userId="fdf95ffb0d03b0d1" providerId="LiveId" clId="{6EBED7A4-3858-46E9-84BC-50A9DBD2A612}" dt="2025-09-11T17:02:35.611" v="607" actId="1076"/>
          <ac:spMkLst>
            <pc:docMk/>
            <pc:sldMk cId="4252306277" sldId="269"/>
            <ac:spMk id="2" creationId="{BFA31B98-6C7E-3422-2825-1B1ECAA5BC55}"/>
          </ac:spMkLst>
        </pc:spChg>
        <pc:spChg chg="add mod">
          <ac:chgData name="BHUVAN KK" userId="fdf95ffb0d03b0d1" providerId="LiveId" clId="{6EBED7A4-3858-46E9-84BC-50A9DBD2A612}" dt="2025-09-11T17:04:45.480" v="625" actId="1076"/>
          <ac:spMkLst>
            <pc:docMk/>
            <pc:sldMk cId="4252306277" sldId="269"/>
            <ac:spMk id="4" creationId="{DE822C4F-E2BC-85D0-A668-DE83E5557AC7}"/>
          </ac:spMkLst>
        </pc:spChg>
      </pc:sldChg>
      <pc:sldChg chg="delSp modSp new mod ord">
        <pc:chgData name="BHUVAN KK" userId="fdf95ffb0d03b0d1" providerId="LiveId" clId="{6EBED7A4-3858-46E9-84BC-50A9DBD2A612}" dt="2025-09-11T17:26:49.247" v="919" actId="20577"/>
        <pc:sldMkLst>
          <pc:docMk/>
          <pc:sldMk cId="1000813540" sldId="270"/>
        </pc:sldMkLst>
        <pc:spChg chg="mod">
          <ac:chgData name="BHUVAN KK" userId="fdf95ffb0d03b0d1" providerId="LiveId" clId="{6EBED7A4-3858-46E9-84BC-50A9DBD2A612}" dt="2025-09-11T17:26:49.247" v="919" actId="20577"/>
          <ac:spMkLst>
            <pc:docMk/>
            <pc:sldMk cId="1000813540" sldId="270"/>
            <ac:spMk id="3" creationId="{AA460E49-1CCE-691D-150D-1E080D7EDF6C}"/>
          </ac:spMkLst>
        </pc:spChg>
      </pc:sldChg>
      <pc:sldChg chg="new del">
        <pc:chgData name="BHUVAN KK" userId="fdf95ffb0d03b0d1" providerId="LiveId" clId="{6EBED7A4-3858-46E9-84BC-50A9DBD2A612}" dt="2025-09-11T17:03:23.092" v="618" actId="47"/>
        <pc:sldMkLst>
          <pc:docMk/>
          <pc:sldMk cId="1381847306" sldId="270"/>
        </pc:sldMkLst>
      </pc:sldChg>
      <pc:sldChg chg="delSp modSp new mod ord">
        <pc:chgData name="BHUVAN KK" userId="fdf95ffb0d03b0d1" providerId="LiveId" clId="{6EBED7A4-3858-46E9-84BC-50A9DBD2A612}" dt="2025-09-11T17:30:50.745" v="937" actId="20577"/>
        <pc:sldMkLst>
          <pc:docMk/>
          <pc:sldMk cId="2297046194" sldId="271"/>
        </pc:sldMkLst>
        <pc:spChg chg="mod">
          <ac:chgData name="BHUVAN KK" userId="fdf95ffb0d03b0d1" providerId="LiveId" clId="{6EBED7A4-3858-46E9-84BC-50A9DBD2A612}" dt="2025-09-11T17:30:50.745" v="937" actId="20577"/>
          <ac:spMkLst>
            <pc:docMk/>
            <pc:sldMk cId="2297046194" sldId="271"/>
            <ac:spMk id="3" creationId="{F35F6EA0-BD7E-8B6D-6BDE-91E2FF52260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3B5750-20C7-4075-8599-63AD9ED6914D}" type="datetimeFigureOut">
              <a:rPr lang="en-IN" smtClean="0"/>
              <a:t>15-09-2025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1CB1B-0FEC-4521-94AF-36A0E6CABBC3}" type="slidenum">
              <a:rPr lang="en-IN" smtClean="0"/>
              <a:t>‹#›</a:t>
            </a:fld>
            <a:endParaRPr lang="en-IN"/>
          </a:p>
        </p:txBody>
      </p:sp>
    </p:spTree>
    <p:extLst>
      <p:ext uri="{BB962C8B-B14F-4D97-AF65-F5344CB8AC3E}">
        <p14:creationId xmlns:p14="http://schemas.microsoft.com/office/powerpoint/2010/main" val="34290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1069130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2597496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1174952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191A3C-4AB0-44AE-999E-52C4CF4C8D5C}"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2074987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191A3C-4AB0-44AE-999E-52C4CF4C8D5C}" type="datetimeFigureOut">
              <a:rPr lang="en-IN" smtClean="0"/>
              <a:t>15-09-2025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46390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191A3C-4AB0-44AE-999E-52C4CF4C8D5C}" type="datetimeFigureOut">
              <a:rPr lang="en-IN" smtClean="0"/>
              <a:t>15-09-2025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3072456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191A3C-4AB0-44AE-999E-52C4CF4C8D5C}" type="datetimeFigureOut">
              <a:rPr lang="en-IN" smtClean="0"/>
              <a:t>15-09-2025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2963766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191A3C-4AB0-44AE-999E-52C4CF4C8D5C}"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2240638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191A3C-4AB0-44AE-999E-52C4CF4C8D5C}"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3941678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26182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9727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848259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72676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22668443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3978055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191A3C-4AB0-44AE-999E-52C4CF4C8D5C}"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534F5A-F65A-4933-A5E8-CEFDCC14DABF}" type="slidenum">
              <a:rPr lang="en-IN" smtClean="0"/>
              <a:t>‹#›</a:t>
            </a:fld>
            <a:endParaRPr lang="en-IN"/>
          </a:p>
        </p:txBody>
      </p:sp>
    </p:spTree>
    <p:extLst>
      <p:ext uri="{BB962C8B-B14F-4D97-AF65-F5344CB8AC3E}">
        <p14:creationId xmlns:p14="http://schemas.microsoft.com/office/powerpoint/2010/main" val="3052413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191A3C-4AB0-44AE-999E-52C4CF4C8D5C}" type="datetimeFigureOut">
              <a:rPr lang="en-IN" smtClean="0"/>
              <a:t>15-09-2025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4534F5A-F65A-4933-A5E8-CEFDCC14DABF}" type="slidenum">
              <a:rPr lang="en-IN" smtClean="0"/>
              <a:t>‹#›</a:t>
            </a:fld>
            <a:endParaRPr lang="en-IN"/>
          </a:p>
        </p:txBody>
      </p:sp>
    </p:spTree>
    <p:extLst>
      <p:ext uri="{BB962C8B-B14F-4D97-AF65-F5344CB8AC3E}">
        <p14:creationId xmlns:p14="http://schemas.microsoft.com/office/powerpoint/2010/main" val="2768322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60E49-1CCE-691D-150D-1E080D7EDF6C}"/>
              </a:ext>
            </a:extLst>
          </p:cNvPr>
          <p:cNvSpPr>
            <a:spLocks noGrp="1"/>
          </p:cNvSpPr>
          <p:nvPr>
            <p:ph idx="1"/>
          </p:nvPr>
        </p:nvSpPr>
        <p:spPr>
          <a:xfrm>
            <a:off x="677334" y="412955"/>
            <a:ext cx="10983724" cy="6204155"/>
          </a:xfrm>
        </p:spPr>
        <p:txBody>
          <a:bodyPr>
            <a:normAutofit/>
          </a:bodyPr>
          <a:lstStyle/>
          <a:p>
            <a:pPr marL="0" indent="0" algn="ctr">
              <a:buNone/>
            </a:pPr>
            <a:r>
              <a:rPr lang="en-IN" sz="4800" b="1" i="1" u="sng" dirty="0">
                <a:solidFill>
                  <a:srgbClr val="FF0000"/>
                </a:solidFill>
                <a:effectLst>
                  <a:outerShdw blurRad="38100" dist="38100" dir="2700000" algn="tl">
                    <a:srgbClr val="000000">
                      <a:alpha val="43137"/>
                    </a:srgbClr>
                  </a:outerShdw>
                </a:effectLst>
              </a:rPr>
              <a:t>G.S.K.S.J.T.I    </a:t>
            </a:r>
          </a:p>
          <a:p>
            <a:pPr marL="0" indent="0" algn="ctr">
              <a:buNone/>
            </a:pPr>
            <a:r>
              <a:rPr lang="en-IN" sz="4800" b="1" i="1" u="sng" dirty="0">
                <a:solidFill>
                  <a:srgbClr val="FF0000"/>
                </a:solidFill>
                <a:effectLst>
                  <a:outerShdw blurRad="38100" dist="38100" dir="2700000" algn="tl">
                    <a:srgbClr val="000000">
                      <a:alpha val="43137"/>
                    </a:srgbClr>
                  </a:outerShdw>
                </a:effectLst>
              </a:rPr>
              <a:t>COLLEGE</a:t>
            </a:r>
          </a:p>
          <a:p>
            <a:pPr marL="0" indent="0" algn="ctr">
              <a:buNone/>
            </a:pPr>
            <a:r>
              <a:rPr lang="en-IN" sz="2400" b="1" i="1" u="sng" dirty="0">
                <a:solidFill>
                  <a:schemeClr val="tx1"/>
                </a:solidFill>
                <a:effectLst>
                  <a:outerShdw blurRad="38100" dist="38100" dir="2700000" algn="tl">
                    <a:srgbClr val="000000">
                      <a:alpha val="43137"/>
                    </a:srgbClr>
                  </a:outerShdw>
                </a:effectLst>
              </a:rPr>
              <a:t>Presenting you by:-</a:t>
            </a:r>
          </a:p>
          <a:p>
            <a:pPr marL="0" indent="0" algn="ctr">
              <a:buNone/>
            </a:pPr>
            <a:r>
              <a:rPr lang="en-IN" sz="2400" i="1" dirty="0">
                <a:solidFill>
                  <a:schemeClr val="tx1"/>
                </a:solidFill>
                <a:effectLst>
                  <a:outerShdw blurRad="38100" dist="38100" dir="2700000" algn="tl">
                    <a:srgbClr val="000000">
                      <a:alpha val="43137"/>
                    </a:srgbClr>
                  </a:outerShdw>
                </a:effectLst>
              </a:rPr>
              <a:t>Bhuvan k k</a:t>
            </a:r>
          </a:p>
          <a:p>
            <a:pPr marL="0" indent="0" algn="ctr">
              <a:buNone/>
            </a:pPr>
            <a:r>
              <a:rPr lang="en-IN" sz="2400" i="1" dirty="0">
                <a:solidFill>
                  <a:schemeClr val="tx1"/>
                </a:solidFill>
                <a:effectLst>
                  <a:outerShdw blurRad="38100" dist="38100" dir="2700000" algn="tl">
                    <a:srgbClr val="000000">
                      <a:alpha val="43137"/>
                    </a:srgbClr>
                  </a:outerShdw>
                </a:effectLst>
              </a:rPr>
              <a:t>Deeksha H S</a:t>
            </a:r>
          </a:p>
          <a:p>
            <a:pPr marL="0" indent="0" algn="ctr">
              <a:buNone/>
            </a:pPr>
            <a:r>
              <a:rPr lang="en-IN" sz="2400" i="1" dirty="0">
                <a:solidFill>
                  <a:schemeClr val="tx1"/>
                </a:solidFill>
                <a:effectLst>
                  <a:outerShdw blurRad="38100" dist="38100" dir="2700000" algn="tl">
                    <a:srgbClr val="000000">
                      <a:alpha val="43137"/>
                    </a:srgbClr>
                  </a:outerShdw>
                </a:effectLst>
              </a:rPr>
              <a:t>Sneha N</a:t>
            </a:r>
          </a:p>
          <a:p>
            <a:pPr marL="0" indent="0" algn="ctr">
              <a:buNone/>
            </a:pPr>
            <a:r>
              <a:rPr lang="en-IN" sz="2400" i="1" dirty="0">
                <a:solidFill>
                  <a:schemeClr val="tx1"/>
                </a:solidFill>
                <a:effectLst>
                  <a:outerShdw blurRad="38100" dist="38100" dir="2700000" algn="tl">
                    <a:srgbClr val="000000">
                      <a:alpha val="43137"/>
                    </a:srgbClr>
                  </a:outerShdw>
                </a:effectLst>
              </a:rPr>
              <a:t>Anirudh P</a:t>
            </a:r>
            <a:endParaRPr lang="en-IN" sz="2400" b="1" i="1" u="sng" dirty="0">
              <a:solidFill>
                <a:schemeClr val="tx1"/>
              </a:solidFill>
              <a:effectLst>
                <a:outerShdw blurRad="38100" dist="38100" dir="2700000" algn="tl">
                  <a:srgbClr val="000000">
                    <a:alpha val="43137"/>
                  </a:srgbClr>
                </a:outerShdw>
              </a:effectLst>
            </a:endParaRPr>
          </a:p>
          <a:p>
            <a:pPr marL="0" indent="0" algn="ctr">
              <a:buNone/>
            </a:pPr>
            <a:r>
              <a:rPr lang="en-IN" sz="2400" b="1" i="1" u="sng" dirty="0">
                <a:solidFill>
                  <a:schemeClr val="tx1"/>
                </a:solidFill>
                <a:effectLst>
                  <a:outerShdw blurRad="38100" dist="38100" dir="2700000" algn="tl">
                    <a:srgbClr val="000000">
                      <a:alpha val="43137"/>
                    </a:srgbClr>
                  </a:outerShdw>
                </a:effectLst>
              </a:rPr>
              <a:t>Project guide :- </a:t>
            </a:r>
          </a:p>
          <a:p>
            <a:pPr marL="0" indent="0" algn="ctr">
              <a:buNone/>
            </a:pPr>
            <a:r>
              <a:rPr lang="en-IN" sz="2400" i="1" dirty="0" err="1">
                <a:solidFill>
                  <a:schemeClr val="tx1"/>
                </a:solidFill>
              </a:rPr>
              <a:t>Dr.Nagaraj</a:t>
            </a:r>
            <a:r>
              <a:rPr lang="en-IN" sz="2400" i="1" dirty="0">
                <a:solidFill>
                  <a:schemeClr val="tx1"/>
                </a:solidFill>
              </a:rPr>
              <a:t> B </a:t>
            </a:r>
            <a:r>
              <a:rPr lang="en-IN" sz="2400" i="1" dirty="0" err="1">
                <a:solidFill>
                  <a:schemeClr val="tx1"/>
                </a:solidFill>
              </a:rPr>
              <a:t>patil</a:t>
            </a:r>
            <a:endParaRPr lang="en-IN" sz="2400" i="1" dirty="0">
              <a:solidFill>
                <a:schemeClr val="tx1"/>
              </a:solidFill>
            </a:endParaRPr>
          </a:p>
          <a:p>
            <a:pPr marL="0" indent="0" algn="ctr">
              <a:buNone/>
            </a:pPr>
            <a:r>
              <a:rPr lang="en-IN" sz="2000" i="1" dirty="0">
                <a:solidFill>
                  <a:schemeClr val="tx1"/>
                </a:solidFill>
                <a:effectLst>
                  <a:outerShdw blurRad="38100" dist="38100" dir="2700000" algn="tl">
                    <a:srgbClr val="000000">
                      <a:alpha val="43137"/>
                    </a:srgbClr>
                  </a:outerShdw>
                </a:effectLst>
              </a:rPr>
              <a:t>Head of the CSE department</a:t>
            </a:r>
          </a:p>
        </p:txBody>
      </p:sp>
    </p:spTree>
    <p:extLst>
      <p:ext uri="{BB962C8B-B14F-4D97-AF65-F5344CB8AC3E}">
        <p14:creationId xmlns:p14="http://schemas.microsoft.com/office/powerpoint/2010/main" val="1000813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8928F-061A-1015-EDF8-8B9682D11931}"/>
              </a:ext>
            </a:extLst>
          </p:cNvPr>
          <p:cNvSpPr>
            <a:spLocks noGrp="1"/>
          </p:cNvSpPr>
          <p:nvPr>
            <p:ph type="title"/>
          </p:nvPr>
        </p:nvSpPr>
        <p:spPr/>
        <p:txBody>
          <a:bodyPr/>
          <a:lstStyle/>
          <a:p>
            <a:pPr algn="ctr"/>
            <a:r>
              <a:rPr lang="en-US" b="1" i="1" u="sng" dirty="0">
                <a:solidFill>
                  <a:schemeClr val="accent1"/>
                </a:solidFill>
              </a:rPr>
              <a:t>Problem Statement:</a:t>
            </a:r>
            <a:br>
              <a:rPr lang="en-US" b="1" i="1" u="sng" dirty="0">
                <a:solidFill>
                  <a:schemeClr val="accent1"/>
                </a:solidFill>
              </a:rPr>
            </a:br>
            <a:endParaRPr lang="en-IN" i="1" u="sng" dirty="0">
              <a:solidFill>
                <a:schemeClr val="accent1"/>
              </a:solidFill>
            </a:endParaRPr>
          </a:p>
        </p:txBody>
      </p:sp>
      <p:sp>
        <p:nvSpPr>
          <p:cNvPr id="3" name="Content Placeholder 2">
            <a:extLst>
              <a:ext uri="{FF2B5EF4-FFF2-40B4-BE49-F238E27FC236}">
                <a16:creationId xmlns:a16="http://schemas.microsoft.com/office/drawing/2014/main" id="{54E12AE6-44B2-5D98-E81E-AC7242279764}"/>
              </a:ext>
            </a:extLst>
          </p:cNvPr>
          <p:cNvSpPr>
            <a:spLocks noGrp="1"/>
          </p:cNvSpPr>
          <p:nvPr>
            <p:ph idx="1"/>
          </p:nvPr>
        </p:nvSpPr>
        <p:spPr>
          <a:xfrm>
            <a:off x="677334" y="1930400"/>
            <a:ext cx="8596668" cy="3880773"/>
          </a:xfrm>
        </p:spPr>
        <p:txBody>
          <a:bodyPr>
            <a:normAutofit fontScale="92500"/>
          </a:bodyPr>
          <a:lstStyle/>
          <a:p>
            <a:pPr marL="0" indent="0">
              <a:buNone/>
            </a:pPr>
            <a:r>
              <a:rPr lang="en-US" sz="2400" dirty="0"/>
              <a:t>The insurance industry plays a critical role in providing financial protection and risk management. However, customers often face challenges in choosing the most suitable insurance policy due to the wide variety of options and complex terms and conditions. Similarly, the claims process is traditionally time-consuming, involving manual checks, paperwork, and delays, which frustrates policyholders and reduces trust in insurers.</a:t>
            </a:r>
            <a:br>
              <a:rPr lang="en-US" sz="2400" dirty="0"/>
            </a:br>
            <a:r>
              <a:rPr lang="en-US" sz="2400" dirty="0"/>
              <a:t>There is a lack of personalized guidance for customers in policy selection and automated systems for quick and transparent claim verification. This creates inefficiencies for both customers and insurance companies.</a:t>
            </a:r>
          </a:p>
          <a:p>
            <a:pPr marL="0" indent="0">
              <a:buNone/>
            </a:pPr>
            <a:endParaRPr lang="en-US" sz="2400" dirty="0"/>
          </a:p>
          <a:p>
            <a:pPr marL="0" indent="0">
              <a:buNone/>
            </a:pPr>
            <a:endParaRPr lang="en-US" sz="2400" dirty="0"/>
          </a:p>
          <a:p>
            <a:endParaRPr lang="en-IN" dirty="0"/>
          </a:p>
        </p:txBody>
      </p:sp>
    </p:spTree>
    <p:extLst>
      <p:ext uri="{BB962C8B-B14F-4D97-AF65-F5344CB8AC3E}">
        <p14:creationId xmlns:p14="http://schemas.microsoft.com/office/powerpoint/2010/main" val="3736338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95C0F-27ED-2F6E-CE0F-9C49514502BE}"/>
              </a:ext>
            </a:extLst>
          </p:cNvPr>
          <p:cNvSpPr>
            <a:spLocks noGrp="1"/>
          </p:cNvSpPr>
          <p:nvPr>
            <p:ph idx="1"/>
          </p:nvPr>
        </p:nvSpPr>
        <p:spPr>
          <a:xfrm>
            <a:off x="393291" y="324465"/>
            <a:ext cx="11454580" cy="6361470"/>
          </a:xfrm>
        </p:spPr>
        <p:txBody>
          <a:bodyPr>
            <a:normAutofit fontScale="92500" lnSpcReduction="20000"/>
          </a:bodyPr>
          <a:lstStyle/>
          <a:p>
            <a:pPr marL="0" indent="0" algn="ctr">
              <a:buNone/>
            </a:pPr>
            <a:r>
              <a:rPr lang="en-US" sz="3000" b="1" u="sng" dirty="0">
                <a:solidFill>
                  <a:schemeClr val="accent1"/>
                </a:solidFill>
              </a:rPr>
              <a:t>Solution</a:t>
            </a:r>
            <a:r>
              <a:rPr lang="en-US" b="1" u="sng" dirty="0">
                <a:solidFill>
                  <a:schemeClr val="accent1"/>
                </a:solidFill>
              </a:rPr>
              <a:t>:</a:t>
            </a:r>
          </a:p>
          <a:p>
            <a:pPr>
              <a:buNone/>
            </a:pPr>
            <a:r>
              <a:rPr lang="en-US" sz="1900" dirty="0"/>
              <a:t>The project proposes an AI-powered system that:</a:t>
            </a:r>
          </a:p>
          <a:p>
            <a:pPr>
              <a:buFont typeface="+mj-lt"/>
              <a:buAutoNum type="arabicPeriod"/>
            </a:pPr>
            <a:r>
              <a:rPr lang="en-US" sz="1900" b="1" dirty="0"/>
              <a:t>Policy Suggester Module</a:t>
            </a:r>
          </a:p>
          <a:p>
            <a:pPr lvl="1"/>
            <a:r>
              <a:rPr lang="en-US" sz="1900" dirty="0"/>
              <a:t>Uses Machine Learning / Natural Language Processing (NLP) to understand customer requirements (e.g., health, life, vehicle, travel).</a:t>
            </a:r>
          </a:p>
          <a:p>
            <a:pPr lvl="1"/>
            <a:r>
              <a:rPr lang="en-US" sz="1900" dirty="0"/>
              <a:t>Matches user inputs (budget, age, risk preferences, coverage needs) with available policies.</a:t>
            </a:r>
          </a:p>
          <a:p>
            <a:pPr lvl="1"/>
            <a:r>
              <a:rPr lang="en-US" sz="1900" dirty="0"/>
              <a:t>Provides personalized insurance recommendations ranked by suitability.</a:t>
            </a:r>
          </a:p>
          <a:p>
            <a:pPr marL="0" indent="0">
              <a:buNone/>
            </a:pPr>
            <a:endParaRPr lang="en-IN" sz="1900" dirty="0"/>
          </a:p>
          <a:p>
            <a:pPr marL="0" indent="0">
              <a:buNone/>
            </a:pPr>
            <a:r>
              <a:rPr lang="en-US" sz="1900" b="1" dirty="0"/>
              <a:t>2</a:t>
            </a:r>
            <a:r>
              <a:rPr lang="en-US" sz="1900" b="1" dirty="0">
                <a:latin typeface="Times New Roman" panose="02020603050405020304" pitchFamily="18" charset="0"/>
                <a:cs typeface="Times New Roman" panose="02020603050405020304" pitchFamily="18" charset="0"/>
              </a:rPr>
              <a:t>. Claim Checker Module</a:t>
            </a:r>
            <a:endParaRPr lang="en-US" sz="1900" dirty="0">
              <a:latin typeface="Times New Roman" panose="02020603050405020304" pitchFamily="18" charset="0"/>
              <a:cs typeface="Times New Roman" panose="02020603050405020304" pitchFamily="18" charset="0"/>
            </a:endParaRPr>
          </a:p>
          <a:p>
            <a:pPr lvl="1"/>
            <a:r>
              <a:rPr lang="en-US" sz="1900" dirty="0">
                <a:latin typeface="Times New Roman" panose="02020603050405020304" pitchFamily="18" charset="0"/>
                <a:cs typeface="Times New Roman" panose="02020603050405020304" pitchFamily="18" charset="0"/>
              </a:rPr>
              <a:t>Uses AI models (possibly rule-based + LLMs) to check claim eligibility against policy terms.</a:t>
            </a:r>
          </a:p>
          <a:p>
            <a:pPr lvl="1"/>
            <a:r>
              <a:rPr lang="en-US" sz="1900" dirty="0">
                <a:latin typeface="Times New Roman" panose="02020603050405020304" pitchFamily="18" charset="0"/>
                <a:cs typeface="Times New Roman" panose="02020603050405020304" pitchFamily="18" charset="0"/>
              </a:rPr>
              <a:t>Automates verification by analyzing uploaded claim documents.</a:t>
            </a:r>
          </a:p>
          <a:p>
            <a:pPr lvl="1"/>
            <a:r>
              <a:rPr lang="en-US" sz="1900" dirty="0">
                <a:latin typeface="Times New Roman" panose="02020603050405020304" pitchFamily="18" charset="0"/>
                <a:cs typeface="Times New Roman" panose="02020603050405020304" pitchFamily="18" charset="0"/>
              </a:rPr>
              <a:t>Detects fraudulent claims using anomaly detection techniques.</a:t>
            </a:r>
          </a:p>
          <a:p>
            <a:pPr lvl="1"/>
            <a:r>
              <a:rPr lang="en-US" sz="1900" dirty="0">
                <a:latin typeface="Times New Roman" panose="02020603050405020304" pitchFamily="18" charset="0"/>
                <a:cs typeface="Times New Roman" panose="02020603050405020304" pitchFamily="18" charset="0"/>
              </a:rPr>
              <a:t>Provides instant feedback on claim status (approved, rejected, or requires manual review).</a:t>
            </a:r>
          </a:p>
          <a:p>
            <a:pPr marL="0" indent="0">
              <a:buNone/>
            </a:pPr>
            <a:r>
              <a:rPr lang="en-US" sz="1900" b="1" dirty="0">
                <a:latin typeface="Times New Roman" panose="02020603050405020304" pitchFamily="18" charset="0"/>
                <a:cs typeface="Times New Roman" panose="02020603050405020304" pitchFamily="18" charset="0"/>
              </a:rPr>
              <a:t>3.System Features</a:t>
            </a:r>
            <a:endParaRPr lang="en-US" sz="1900" dirty="0">
              <a:latin typeface="Times New Roman" panose="02020603050405020304" pitchFamily="18" charset="0"/>
              <a:cs typeface="Times New Roman" panose="02020603050405020304" pitchFamily="18" charset="0"/>
            </a:endParaRPr>
          </a:p>
          <a:p>
            <a:pPr lvl="1"/>
            <a:r>
              <a:rPr lang="en-US" sz="1900" dirty="0">
                <a:latin typeface="Times New Roman" panose="02020603050405020304" pitchFamily="18" charset="0"/>
                <a:cs typeface="Times New Roman" panose="02020603050405020304" pitchFamily="18" charset="0"/>
              </a:rPr>
              <a:t>User-friendly website interface.</a:t>
            </a:r>
          </a:p>
          <a:p>
            <a:pPr lvl="1"/>
            <a:r>
              <a:rPr lang="en-US" sz="1900" dirty="0">
                <a:latin typeface="Times New Roman" panose="02020603050405020304" pitchFamily="18" charset="0"/>
                <a:cs typeface="Times New Roman" panose="02020603050405020304" pitchFamily="18" charset="0"/>
              </a:rPr>
              <a:t>Integration with insurance datasets for training AI models.</a:t>
            </a:r>
          </a:p>
          <a:p>
            <a:pPr lvl="1"/>
            <a:r>
              <a:rPr lang="en-US" sz="1900" dirty="0">
                <a:latin typeface="Times New Roman" panose="02020603050405020304" pitchFamily="18" charset="0"/>
                <a:cs typeface="Times New Roman" panose="02020603050405020304" pitchFamily="18" charset="0"/>
              </a:rPr>
              <a:t>Real-time chatbot for customer queries.</a:t>
            </a:r>
          </a:p>
          <a:p>
            <a:pPr lvl="1"/>
            <a:r>
              <a:rPr lang="en-US" sz="1900" dirty="0">
                <a:latin typeface="Times New Roman" panose="02020603050405020304" pitchFamily="18" charset="0"/>
                <a:cs typeface="Times New Roman" panose="02020603050405020304" pitchFamily="18" charset="0"/>
              </a:rPr>
              <a:t>Transparency and faster processing for improved user trust.</a:t>
            </a:r>
          </a:p>
          <a:p>
            <a:pPr marL="0" indent="0">
              <a:buNone/>
            </a:pPr>
            <a:endParaRPr lang="en-IN" dirty="0"/>
          </a:p>
          <a:p>
            <a:endParaRPr lang="en-IN" dirty="0"/>
          </a:p>
        </p:txBody>
      </p:sp>
    </p:spTree>
    <p:extLst>
      <p:ext uri="{BB962C8B-B14F-4D97-AF65-F5344CB8AC3E}">
        <p14:creationId xmlns:p14="http://schemas.microsoft.com/office/powerpoint/2010/main" val="1447954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558A40-03A1-8844-84FB-53AAA5D8564C}"/>
              </a:ext>
            </a:extLst>
          </p:cNvPr>
          <p:cNvSpPr txBox="1"/>
          <p:nvPr/>
        </p:nvSpPr>
        <p:spPr>
          <a:xfrm>
            <a:off x="491613" y="599768"/>
            <a:ext cx="10471355" cy="589443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rebuchet MS" panose="020B0603020202020204"/>
              <a:ea typeface="+mn-ea"/>
              <a:cs typeface="+mn-cs"/>
            </a:endParaRPr>
          </a:p>
        </p:txBody>
      </p:sp>
      <p:pic>
        <p:nvPicPr>
          <p:cNvPr id="8" name="Picture 7">
            <a:extLst>
              <a:ext uri="{FF2B5EF4-FFF2-40B4-BE49-F238E27FC236}">
                <a16:creationId xmlns:a16="http://schemas.microsoft.com/office/drawing/2014/main" id="{94216F8B-00EF-BB8E-2B94-62A01A5E61FE}"/>
              </a:ext>
            </a:extLst>
          </p:cNvPr>
          <p:cNvPicPr>
            <a:picLocks noChangeAspect="1"/>
          </p:cNvPicPr>
          <p:nvPr/>
        </p:nvPicPr>
        <p:blipFill>
          <a:blip r:embed="rId2"/>
          <a:stretch>
            <a:fillRect/>
          </a:stretch>
        </p:blipFill>
        <p:spPr>
          <a:xfrm>
            <a:off x="1917290" y="599769"/>
            <a:ext cx="7836310" cy="5535560"/>
          </a:xfrm>
          <a:prstGeom prst="rect">
            <a:avLst/>
          </a:prstGeom>
        </p:spPr>
      </p:pic>
    </p:spTree>
    <p:extLst>
      <p:ext uri="{BB962C8B-B14F-4D97-AF65-F5344CB8AC3E}">
        <p14:creationId xmlns:p14="http://schemas.microsoft.com/office/powerpoint/2010/main" val="3924547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FA56D0-2DE4-CD6C-480D-10100C84A0D7}"/>
              </a:ext>
            </a:extLst>
          </p:cNvPr>
          <p:cNvSpPr>
            <a:spLocks noGrp="1"/>
          </p:cNvSpPr>
          <p:nvPr>
            <p:ph idx="1"/>
          </p:nvPr>
        </p:nvSpPr>
        <p:spPr>
          <a:xfrm>
            <a:off x="511277" y="373626"/>
            <a:ext cx="11189110" cy="6213987"/>
          </a:xfrm>
        </p:spPr>
        <p:txBody>
          <a:bodyPr>
            <a:normAutofit/>
          </a:bodyPr>
          <a:lstStyle/>
          <a:p>
            <a:pPr marL="0" indent="0" algn="ctr">
              <a:buNone/>
            </a:pPr>
            <a:r>
              <a:rPr lang="en-US" sz="2400" b="1" u="sng" dirty="0">
                <a:solidFill>
                  <a:schemeClr val="accent5"/>
                </a:solidFill>
              </a:rPr>
              <a:t>Application of Artificial Intelligence in the Banking Sector(research paper):-</a:t>
            </a:r>
          </a:p>
          <a:p>
            <a:pPr marL="0" indent="0">
              <a:buNone/>
            </a:pPr>
            <a:r>
              <a:rPr lang="en-US" b="1" u="sng" dirty="0">
                <a:solidFill>
                  <a:srgbClr val="0070C0"/>
                </a:solidFill>
              </a:rPr>
              <a:t>Introduction</a:t>
            </a:r>
          </a:p>
          <a:p>
            <a:pPr marL="0" indent="0">
              <a:buNone/>
            </a:pPr>
            <a:r>
              <a:rPr lang="en-US" dirty="0"/>
              <a:t>Artificial Intelligence (AI) is transforming the banking sector by driving efficiency, enhancing customer experience, and strengthening risk management. Through advanced data analysis and automation, AI helps banks streamline operations, detect fraud, and deliver personalized services.</a:t>
            </a:r>
          </a:p>
          <a:p>
            <a:pPr marL="0" indent="0">
              <a:buNone/>
            </a:pPr>
            <a:r>
              <a:rPr lang="en-US" b="1" u="sng" dirty="0">
                <a:solidFill>
                  <a:srgbClr val="0070C0"/>
                </a:solidFill>
              </a:rPr>
              <a:t>Key Applications</a:t>
            </a:r>
          </a:p>
          <a:p>
            <a:pPr marL="0" indent="0">
              <a:buNone/>
            </a:pPr>
            <a:r>
              <a:rPr lang="en-US" b="1" dirty="0"/>
              <a:t>Customer Service:</a:t>
            </a:r>
            <a:r>
              <a:rPr lang="en-US" dirty="0"/>
              <a:t> AI-powered chatbots and voice assistants provide 24/7 support, while recommendation engines offer personalized financial advice and credit decisions.</a:t>
            </a:r>
          </a:p>
          <a:p>
            <a:pPr marL="0" indent="0">
              <a:buNone/>
            </a:pPr>
            <a:r>
              <a:rPr lang="en-US" b="1" dirty="0"/>
              <a:t>Fraud Detection:</a:t>
            </a:r>
            <a:r>
              <a:rPr lang="en-US" dirty="0"/>
              <a:t> Machine learning algorithms flag anomalies, enable real-time transaction monitoring, and reduce false positives, thereby enhancing security.</a:t>
            </a:r>
          </a:p>
          <a:p>
            <a:pPr marL="0" indent="0">
              <a:buNone/>
            </a:pPr>
            <a:r>
              <a:rPr lang="en-US" b="1" dirty="0"/>
              <a:t>Risk Management:</a:t>
            </a:r>
            <a:r>
              <a:rPr lang="en-US" dirty="0"/>
              <a:t> AI tools analyze patterns, detect anomalies, and leverage biometric and cognitive analytics to minimize losses and improve compliance.</a:t>
            </a:r>
          </a:p>
          <a:p>
            <a:pPr marL="0" indent="0">
              <a:buNone/>
            </a:pPr>
            <a:r>
              <a:rPr lang="en-US" b="1" u="sng" dirty="0">
                <a:solidFill>
                  <a:srgbClr val="0070C0"/>
                </a:solidFill>
              </a:rPr>
              <a:t>Strengths</a:t>
            </a:r>
          </a:p>
          <a:p>
            <a:pPr marL="0" indent="0">
              <a:buNone/>
            </a:pPr>
            <a:r>
              <a:rPr lang="en-US" dirty="0"/>
              <a:t>Increases </a:t>
            </a:r>
            <a:r>
              <a:rPr lang="en-US" b="1" dirty="0"/>
              <a:t>efficiency</a:t>
            </a:r>
            <a:r>
              <a:rPr lang="en-US" dirty="0"/>
              <a:t> and reduces human errors.</a:t>
            </a:r>
          </a:p>
          <a:p>
            <a:pPr marL="0" indent="0">
              <a:buNone/>
            </a:pPr>
            <a:r>
              <a:rPr lang="en-US" dirty="0"/>
              <a:t>Enables </a:t>
            </a:r>
            <a:r>
              <a:rPr lang="en-US" b="1" dirty="0"/>
              <a:t>real-time data analysis</a:t>
            </a:r>
            <a:r>
              <a:rPr lang="en-US" dirty="0"/>
              <a:t> for decision-making.</a:t>
            </a:r>
          </a:p>
          <a:p>
            <a:pPr marL="0" indent="0">
              <a:buNone/>
            </a:pPr>
            <a:r>
              <a:rPr lang="en-US" dirty="0"/>
              <a:t>Improves </a:t>
            </a:r>
            <a:r>
              <a:rPr lang="en-US" b="1" dirty="0"/>
              <a:t>customer satisfaction</a:t>
            </a:r>
            <a:r>
              <a:rPr lang="en-US" dirty="0"/>
              <a:t> through personalization and faster services.</a:t>
            </a:r>
          </a:p>
          <a:p>
            <a:pPr marL="0" indent="0" algn="ctr">
              <a:buNone/>
            </a:pPr>
            <a:endParaRPr lang="en-US" b="1" dirty="0">
              <a:solidFill>
                <a:schemeClr val="accent1"/>
              </a:solidFill>
            </a:endParaRPr>
          </a:p>
        </p:txBody>
      </p:sp>
    </p:spTree>
    <p:extLst>
      <p:ext uri="{BB962C8B-B14F-4D97-AF65-F5344CB8AC3E}">
        <p14:creationId xmlns:p14="http://schemas.microsoft.com/office/powerpoint/2010/main" val="1069967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936136-B0A3-C41C-5AC6-1187B4C9B2C0}"/>
              </a:ext>
            </a:extLst>
          </p:cNvPr>
          <p:cNvSpPr>
            <a:spLocks noGrp="1"/>
          </p:cNvSpPr>
          <p:nvPr>
            <p:ph idx="1"/>
          </p:nvPr>
        </p:nvSpPr>
        <p:spPr>
          <a:xfrm>
            <a:off x="838200" y="422787"/>
            <a:ext cx="10901516" cy="6174658"/>
          </a:xfrm>
        </p:spPr>
        <p:txBody>
          <a:bodyPr>
            <a:noAutofit/>
          </a:bodyPr>
          <a:lstStyle/>
          <a:p>
            <a:pPr marL="0" indent="0">
              <a:buNone/>
            </a:pPr>
            <a:endParaRPr lang="en-US" b="1" dirty="0"/>
          </a:p>
          <a:p>
            <a:pPr marL="0" indent="0">
              <a:buNone/>
            </a:pPr>
            <a:r>
              <a:rPr lang="en-US" b="1" u="sng" dirty="0">
                <a:solidFill>
                  <a:srgbClr val="0070C0"/>
                </a:solidFill>
              </a:rPr>
              <a:t>Weaknesses</a:t>
            </a:r>
          </a:p>
          <a:p>
            <a:pPr marL="0" indent="0">
              <a:buNone/>
            </a:pPr>
            <a:r>
              <a:rPr lang="en-US" dirty="0"/>
              <a:t>Lacks </a:t>
            </a:r>
            <a:r>
              <a:rPr lang="en-US" b="1" dirty="0"/>
              <a:t>emotional intelligence</a:t>
            </a:r>
            <a:r>
              <a:rPr lang="en-US" dirty="0"/>
              <a:t> and empathy.</a:t>
            </a:r>
          </a:p>
          <a:p>
            <a:pPr marL="0" indent="0">
              <a:buNone/>
            </a:pPr>
            <a:r>
              <a:rPr lang="en-US" dirty="0"/>
              <a:t>Requires </a:t>
            </a:r>
            <a:r>
              <a:rPr lang="en-US" b="1" dirty="0"/>
              <a:t>human oversight</a:t>
            </a:r>
            <a:r>
              <a:rPr lang="en-US" dirty="0"/>
              <a:t> for critical decisions.</a:t>
            </a:r>
          </a:p>
          <a:p>
            <a:pPr marL="0" indent="0">
              <a:buNone/>
            </a:pPr>
            <a:r>
              <a:rPr lang="en-US" dirty="0"/>
              <a:t>Prone to </a:t>
            </a:r>
            <a:r>
              <a:rPr lang="en-US" b="1" dirty="0"/>
              <a:t>bias and failures</a:t>
            </a:r>
            <a:r>
              <a:rPr lang="en-US" dirty="0"/>
              <a:t> if trained on flawed data.</a:t>
            </a:r>
          </a:p>
          <a:p>
            <a:pPr marL="0" indent="0">
              <a:buNone/>
            </a:pPr>
            <a:r>
              <a:rPr lang="en-US" b="1" u="sng" dirty="0">
                <a:solidFill>
                  <a:srgbClr val="0070C0"/>
                </a:solidFill>
              </a:rPr>
              <a:t>Challenges</a:t>
            </a:r>
          </a:p>
          <a:p>
            <a:pPr marL="0" indent="0">
              <a:buNone/>
            </a:pPr>
            <a:r>
              <a:rPr lang="en-US" dirty="0"/>
              <a:t>Potential </a:t>
            </a:r>
            <a:r>
              <a:rPr lang="en-US" b="1" dirty="0"/>
              <a:t>job displacement</a:t>
            </a:r>
            <a:r>
              <a:rPr lang="en-US" dirty="0"/>
              <a:t> due to automation.</a:t>
            </a:r>
          </a:p>
          <a:p>
            <a:pPr marL="0" indent="0">
              <a:buNone/>
            </a:pPr>
            <a:r>
              <a:rPr lang="en-US" b="1" dirty="0"/>
              <a:t>Over-reliance</a:t>
            </a:r>
            <a:r>
              <a:rPr lang="en-US" dirty="0"/>
              <a:t> on AI systems may reduce human control.</a:t>
            </a:r>
          </a:p>
          <a:p>
            <a:pPr marL="0" indent="0">
              <a:buNone/>
            </a:pPr>
            <a:r>
              <a:rPr lang="en-US" dirty="0"/>
              <a:t>Risks of </a:t>
            </a:r>
            <a:r>
              <a:rPr lang="en-US" b="1" dirty="0"/>
              <a:t>system errors, security breaches,</a:t>
            </a:r>
            <a:r>
              <a:rPr lang="en-US" dirty="0"/>
              <a:t> and misuse of data.</a:t>
            </a:r>
          </a:p>
          <a:p>
            <a:pPr marL="0" indent="0">
              <a:buNone/>
            </a:pPr>
            <a:r>
              <a:rPr lang="en-US" dirty="0"/>
              <a:t>Building and maintaining </a:t>
            </a:r>
            <a:r>
              <a:rPr lang="en-US" b="1" dirty="0"/>
              <a:t>public trust</a:t>
            </a:r>
            <a:r>
              <a:rPr lang="en-US" dirty="0"/>
              <a:t> in AI-driven banking.</a:t>
            </a:r>
          </a:p>
          <a:p>
            <a:pPr marL="0" indent="0">
              <a:buNone/>
            </a:pPr>
            <a:r>
              <a:rPr lang="en-US" b="1" u="sng" dirty="0">
                <a:solidFill>
                  <a:srgbClr val="0070C0"/>
                </a:solidFill>
              </a:rPr>
              <a:t>Conclusion</a:t>
            </a:r>
          </a:p>
          <a:p>
            <a:pPr marL="0" indent="0">
              <a:buNone/>
            </a:pPr>
            <a:r>
              <a:rPr lang="en-US" dirty="0"/>
              <a:t>AI offers significant benefits for banking, from improved efficiency and fraud detection to enhanced customer experiences. However, responsible use requires balancing automation with human oversight, ensuring ethical practices, transparency, and trust. A collaborative approach between humans and AI can unlock innovation while safeguarding the banking sector’s integrity.</a:t>
            </a:r>
          </a:p>
          <a:p>
            <a:endParaRPr lang="en-IN" dirty="0"/>
          </a:p>
        </p:txBody>
      </p:sp>
    </p:spTree>
    <p:extLst>
      <p:ext uri="{BB962C8B-B14F-4D97-AF65-F5344CB8AC3E}">
        <p14:creationId xmlns:p14="http://schemas.microsoft.com/office/powerpoint/2010/main" val="2301914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DA7B9-9A67-D60E-4B2C-7CDCFEB6B640}"/>
              </a:ext>
            </a:extLst>
          </p:cNvPr>
          <p:cNvSpPr>
            <a:spLocks noGrp="1"/>
          </p:cNvSpPr>
          <p:nvPr>
            <p:ph idx="1"/>
          </p:nvPr>
        </p:nvSpPr>
        <p:spPr>
          <a:xfrm>
            <a:off x="677334" y="589935"/>
            <a:ext cx="10826408" cy="5860026"/>
          </a:xfrm>
        </p:spPr>
        <p:txBody>
          <a:bodyPr>
            <a:normAutofit/>
          </a:bodyPr>
          <a:lstStyle/>
          <a:p>
            <a:pPr marL="0" indent="0" algn="ctr">
              <a:buNone/>
            </a:pPr>
            <a:r>
              <a:rPr lang="en-US" sz="4000" b="1" u="sng" dirty="0">
                <a:solidFill>
                  <a:schemeClr val="accent5"/>
                </a:solidFill>
              </a:rPr>
              <a:t>Insurance policy summarizer(research paper):-</a:t>
            </a:r>
          </a:p>
          <a:p>
            <a:pPr marL="0" lvl="0" indent="0" defTabSz="914400" eaLnBrk="0" fontAlgn="base" hangingPunct="0">
              <a:spcBef>
                <a:spcPct val="0"/>
              </a:spcBef>
              <a:spcAft>
                <a:spcPct val="0"/>
              </a:spcAft>
              <a:buClrTx/>
              <a:buSzTx/>
              <a:buNone/>
            </a:pPr>
            <a:r>
              <a:rPr lang="en-US" altLang="en-US" b="1" u="sng" dirty="0">
                <a:solidFill>
                  <a:srgbClr val="0070C0"/>
                </a:solidFill>
                <a:latin typeface="Arial" panose="020B0604020202020204" pitchFamily="34" charset="0"/>
              </a:rPr>
              <a:t>Problem</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Insurance policies are long, complex, and full of legal jargon.</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Hard for customers to understand.</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Manual/rule-based summarization is slow, inconsistent, and often misses meaning.</a:t>
            </a:r>
          </a:p>
          <a:p>
            <a:pPr marL="0" lvl="0" indent="0" defTabSz="914400" eaLnBrk="0" fontAlgn="base" hangingPunct="0">
              <a:spcBef>
                <a:spcPct val="0"/>
              </a:spcBef>
              <a:spcAft>
                <a:spcPct val="0"/>
              </a:spcAft>
              <a:buClrTx/>
              <a:buSzTx/>
              <a:buNone/>
            </a:pPr>
            <a:r>
              <a:rPr lang="en-US" altLang="en-US" b="1" u="sng" dirty="0">
                <a:solidFill>
                  <a:srgbClr val="0070C0"/>
                </a:solidFill>
                <a:latin typeface="Arial" panose="020B0604020202020204" pitchFamily="34" charset="0"/>
              </a:rPr>
              <a:t>Approach</a:t>
            </a:r>
            <a:endParaRPr lang="en-US" altLang="en-US" u="sng" dirty="0">
              <a:solidFill>
                <a:srgbClr val="0070C0"/>
              </a:solidFill>
              <a:latin typeface="Arial" panose="020B0604020202020204" pitchFamily="34" charset="0"/>
            </a:endParaRP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Tested Large Language Models (LLMs): GPT-3.5, GPT-4, and fine-tuned BART.</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Applied to different policy types: life, health, auto, and property.</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Summaries constrained to ~200 words, optimized for clarity.</a:t>
            </a:r>
          </a:p>
          <a:p>
            <a:pPr marL="0" lvl="0" indent="0" defTabSz="914400" eaLnBrk="0" fontAlgn="base" hangingPunct="0">
              <a:spcBef>
                <a:spcPct val="0"/>
              </a:spcBef>
              <a:spcAft>
                <a:spcPct val="0"/>
              </a:spcAft>
              <a:buClrTx/>
              <a:buSzTx/>
              <a:buNone/>
            </a:pPr>
            <a:r>
              <a:rPr lang="en-US" altLang="en-US" b="1" u="sng" dirty="0">
                <a:solidFill>
                  <a:srgbClr val="0070C0"/>
                </a:solidFill>
                <a:latin typeface="Arial" panose="020B0604020202020204" pitchFamily="34" charset="0"/>
              </a:rPr>
              <a:t>Evaluation</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Quantitative:</a:t>
            </a:r>
            <a:r>
              <a:rPr lang="en-US" altLang="en-US" dirty="0">
                <a:solidFill>
                  <a:schemeClr val="tx1"/>
                </a:solidFill>
                <a:latin typeface="Arial" panose="020B0604020202020204" pitchFamily="34" charset="0"/>
              </a:rPr>
              <a:t> ROUGE, BERT Score, factual accuracy checks.</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Qualitative:</a:t>
            </a:r>
            <a:r>
              <a:rPr lang="en-US" altLang="en-US" dirty="0">
                <a:solidFill>
                  <a:schemeClr val="tx1"/>
                </a:solidFill>
                <a:latin typeface="Arial" panose="020B0604020202020204" pitchFamily="34" charset="0"/>
              </a:rPr>
              <a:t> Reviews by domain experts and normal users.</a:t>
            </a:r>
            <a:endParaRPr lang="en-US" altLang="en-US" b="1" dirty="0">
              <a:solidFill>
                <a:srgbClr val="0070C0"/>
              </a:solidFill>
              <a:latin typeface="Arial" panose="020B0604020202020204" pitchFamily="34" charset="0"/>
            </a:endParaRPr>
          </a:p>
          <a:p>
            <a:pPr marL="0" lvl="0" indent="0" defTabSz="914400" eaLnBrk="0" fontAlgn="base" hangingPunct="0">
              <a:spcBef>
                <a:spcPct val="0"/>
              </a:spcBef>
              <a:spcAft>
                <a:spcPct val="0"/>
              </a:spcAft>
              <a:buClrTx/>
              <a:buSzTx/>
              <a:buNone/>
            </a:pPr>
            <a:r>
              <a:rPr lang="en-US" altLang="en-US" b="1" u="sng" dirty="0">
                <a:solidFill>
                  <a:srgbClr val="0070C0"/>
                </a:solidFill>
                <a:latin typeface="Arial" panose="020B0604020202020204" pitchFamily="34" charset="0"/>
              </a:rPr>
              <a:t>Findings</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GPT-4:</a:t>
            </a:r>
            <a:r>
              <a:rPr lang="en-US" altLang="en-US" dirty="0">
                <a:solidFill>
                  <a:schemeClr val="tx1"/>
                </a:solidFill>
                <a:latin typeface="Arial" panose="020B0604020202020204" pitchFamily="34" charset="0"/>
              </a:rPr>
              <a:t> Best overall, clear and accurate summaries.</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Fine-tuned BART:</a:t>
            </a:r>
            <a:r>
              <a:rPr lang="en-US" altLang="en-US" dirty="0">
                <a:solidFill>
                  <a:schemeClr val="tx1"/>
                </a:solidFill>
                <a:latin typeface="Arial" panose="020B0604020202020204" pitchFamily="34" charset="0"/>
              </a:rPr>
              <a:t> Better with insurance-specific terminology.</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User preference:</a:t>
            </a:r>
            <a:r>
              <a:rPr lang="en-US" altLang="en-US" dirty="0">
                <a:solidFill>
                  <a:schemeClr val="tx1"/>
                </a:solidFill>
                <a:latin typeface="Arial" panose="020B0604020202020204" pitchFamily="34" charset="0"/>
              </a:rPr>
              <a:t> GPT-4 (readability).</a:t>
            </a:r>
          </a:p>
          <a:p>
            <a:pPr marL="0" lvl="0" indent="0" defTabSz="91440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Expert concern:</a:t>
            </a:r>
            <a:r>
              <a:rPr lang="en-US" altLang="en-US" dirty="0">
                <a:solidFill>
                  <a:schemeClr val="tx1"/>
                </a:solidFill>
                <a:latin typeface="Arial" panose="020B0604020202020204" pitchFamily="34" charset="0"/>
              </a:rPr>
              <a:t> GPT-4 occasionally missed important details.</a:t>
            </a:r>
          </a:p>
        </p:txBody>
      </p:sp>
    </p:spTree>
    <p:extLst>
      <p:ext uri="{BB962C8B-B14F-4D97-AF65-F5344CB8AC3E}">
        <p14:creationId xmlns:p14="http://schemas.microsoft.com/office/powerpoint/2010/main" val="2380387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CDE3FE-395E-6AA1-1A2A-B178C925D224}"/>
              </a:ext>
            </a:extLst>
          </p:cNvPr>
          <p:cNvSpPr txBox="1"/>
          <p:nvPr/>
        </p:nvSpPr>
        <p:spPr>
          <a:xfrm>
            <a:off x="707923" y="206478"/>
            <a:ext cx="9901084" cy="646331"/>
          </a:xfrm>
          <a:prstGeom prst="rect">
            <a:avLst/>
          </a:prstGeom>
          <a:noFill/>
        </p:spPr>
        <p:txBody>
          <a:bodyPr wrap="square" rtlCol="0">
            <a:spAutoFit/>
          </a:bodyPr>
          <a:lstStyle/>
          <a:p>
            <a:pPr algn="ctr"/>
            <a:r>
              <a:rPr lang="en-US" sz="3600" b="1" u="sng" dirty="0">
                <a:solidFill>
                  <a:schemeClr val="accent5"/>
                </a:solidFill>
              </a:rPr>
              <a:t>AI powered LLM using RAG(research paper):- </a:t>
            </a:r>
            <a:endParaRPr lang="en-IN" sz="3600" b="1" u="sng" dirty="0">
              <a:solidFill>
                <a:schemeClr val="accent5"/>
              </a:solidFill>
            </a:endParaRPr>
          </a:p>
        </p:txBody>
      </p:sp>
      <p:sp>
        <p:nvSpPr>
          <p:cNvPr id="5" name="TextBox 4">
            <a:extLst>
              <a:ext uri="{FF2B5EF4-FFF2-40B4-BE49-F238E27FC236}">
                <a16:creationId xmlns:a16="http://schemas.microsoft.com/office/drawing/2014/main" id="{F09971CF-2D98-D608-A286-79115824CC50}"/>
              </a:ext>
            </a:extLst>
          </p:cNvPr>
          <p:cNvSpPr txBox="1"/>
          <p:nvPr/>
        </p:nvSpPr>
        <p:spPr>
          <a:xfrm>
            <a:off x="314632" y="948690"/>
            <a:ext cx="11385755" cy="4154984"/>
          </a:xfrm>
          <a:prstGeom prst="rect">
            <a:avLst/>
          </a:prstGeom>
          <a:noFill/>
        </p:spPr>
        <p:txBody>
          <a:bodyPr wrap="square" rtlCol="0">
            <a:spAutoFit/>
          </a:bodyPr>
          <a:lstStyle/>
          <a:p>
            <a:pPr lvl="0" defTabSz="914400" eaLnBrk="0" fontAlgn="base" hangingPunct="0">
              <a:spcBef>
                <a:spcPct val="0"/>
              </a:spcBef>
              <a:spcAft>
                <a:spcPct val="0"/>
              </a:spcAft>
            </a:pPr>
            <a:r>
              <a:rPr lang="en-US" altLang="en-US" sz="2400" b="1" u="sng" dirty="0">
                <a:solidFill>
                  <a:srgbClr val="0070C0"/>
                </a:solidFill>
                <a:latin typeface="Arial" panose="020B0604020202020204" pitchFamily="34" charset="0"/>
              </a:rPr>
              <a:t>Problem with Traditional Methods</a:t>
            </a:r>
            <a:endParaRPr lang="en-US" altLang="en-US" sz="24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Manual claims adjudication is slow, costly, and prone to errors.</a:t>
            </a:r>
          </a:p>
          <a:p>
            <a:pPr lvl="0" defTabSz="914400" eaLnBrk="0" fontAlgn="base" hangingPunct="0">
              <a:spcBef>
                <a:spcPct val="0"/>
              </a:spcBef>
              <a:spcAft>
                <a:spcPct val="0"/>
              </a:spcAft>
            </a:pPr>
            <a:r>
              <a:rPr lang="en-US" altLang="en-US" sz="2400" b="1" u="sng" dirty="0">
                <a:solidFill>
                  <a:srgbClr val="0070C0"/>
                </a:solidFill>
                <a:latin typeface="Arial" panose="020B0604020202020204" pitchFamily="34" charset="0"/>
              </a:rPr>
              <a:t>AI-Powered Solution</a:t>
            </a:r>
            <a:endParaRPr lang="en-US" altLang="en-US" sz="24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Combines </a:t>
            </a:r>
            <a:r>
              <a:rPr lang="en-US" altLang="en-US" sz="2400" b="1" dirty="0">
                <a:latin typeface="Arial" panose="020B0604020202020204" pitchFamily="34" charset="0"/>
              </a:rPr>
              <a:t>Large Language Models (LLMs)</a:t>
            </a:r>
            <a:r>
              <a:rPr lang="en-US" altLang="en-US" sz="2400" dirty="0">
                <a:latin typeface="Arial" panose="020B0604020202020204" pitchFamily="34" charset="0"/>
              </a:rPr>
              <a:t> with </a:t>
            </a:r>
            <a:r>
              <a:rPr lang="en-US" altLang="en-US" sz="2400" b="1" dirty="0">
                <a:latin typeface="Arial" panose="020B0604020202020204" pitchFamily="34" charset="0"/>
              </a:rPr>
              <a:t>Retrieval-Augmented Generation (RAG)</a:t>
            </a:r>
            <a:r>
              <a:rPr lang="en-US" altLang="en-US" sz="2400" dirty="0">
                <a:latin typeface="Arial" panose="020B0604020202020204" pitchFamily="34" charset="0"/>
              </a:rPr>
              <a:t> and </a:t>
            </a:r>
            <a:r>
              <a:rPr lang="en-US" altLang="en-US" sz="2400" b="1" dirty="0">
                <a:latin typeface="Arial" panose="020B0604020202020204" pitchFamily="34" charset="0"/>
              </a:rPr>
              <a:t>Robotic Process Automation (RPA)</a:t>
            </a:r>
            <a:r>
              <a:rPr lang="en-US" altLang="en-US" sz="2400" dirty="0">
                <a:latin typeface="Arial" panose="020B0604020202020204" pitchFamily="34" charset="0"/>
              </a:rPr>
              <a:t>.</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Automates document analysis, fraud detection, and decision-making.</a:t>
            </a:r>
          </a:p>
          <a:p>
            <a:pPr lvl="0" defTabSz="914400" eaLnBrk="0" fontAlgn="base" hangingPunct="0">
              <a:spcBef>
                <a:spcPct val="0"/>
              </a:spcBef>
              <a:spcAft>
                <a:spcPct val="0"/>
              </a:spcAft>
            </a:pPr>
            <a:r>
              <a:rPr lang="en-US" altLang="en-US" sz="2400" b="1" u="sng" dirty="0">
                <a:solidFill>
                  <a:srgbClr val="0070C0"/>
                </a:solidFill>
                <a:latin typeface="Arial" panose="020B0604020202020204" pitchFamily="34" charset="0"/>
              </a:rPr>
              <a:t>Benefits</a:t>
            </a:r>
            <a:endParaRPr lang="en-US" altLang="en-US" sz="24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Faster claim settlements.</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Improved fraud prevention.</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Enhanced accuracy in processing.</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Better customer experience.</a:t>
            </a:r>
          </a:p>
        </p:txBody>
      </p:sp>
    </p:spTree>
    <p:extLst>
      <p:ext uri="{BB962C8B-B14F-4D97-AF65-F5344CB8AC3E}">
        <p14:creationId xmlns:p14="http://schemas.microsoft.com/office/powerpoint/2010/main" val="952949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A39A2E-CF59-6204-EF73-7AB82AAA6CF5}"/>
              </a:ext>
            </a:extLst>
          </p:cNvPr>
          <p:cNvSpPr txBox="1"/>
          <p:nvPr/>
        </p:nvSpPr>
        <p:spPr>
          <a:xfrm>
            <a:off x="521111" y="521111"/>
            <a:ext cx="10540180" cy="4154984"/>
          </a:xfrm>
          <a:prstGeom prst="rect">
            <a:avLst/>
          </a:prstGeom>
          <a:noFill/>
        </p:spPr>
        <p:txBody>
          <a:bodyPr wrap="square" rtlCol="0">
            <a:spAutoFit/>
          </a:bodyPr>
          <a:lstStyle/>
          <a:p>
            <a:pPr lvl="0" defTabSz="914400" eaLnBrk="0" fontAlgn="base" hangingPunct="0">
              <a:spcBef>
                <a:spcPct val="0"/>
              </a:spcBef>
              <a:spcAft>
                <a:spcPct val="0"/>
              </a:spcAft>
            </a:pPr>
            <a:r>
              <a:rPr lang="en-US" altLang="en-US" sz="2400" b="1" u="sng" dirty="0">
                <a:solidFill>
                  <a:srgbClr val="0070C0"/>
                </a:solidFill>
                <a:latin typeface="Arial" panose="020B0604020202020204" pitchFamily="34" charset="0"/>
              </a:rPr>
              <a:t>Applications</a:t>
            </a:r>
            <a:endParaRPr lang="en-US" altLang="en-US" sz="24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Claims automation.</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Categorization of unstructured content.</a:t>
            </a:r>
          </a:p>
          <a:p>
            <a:pPr lvl="0" defTabSz="914400" eaLnBrk="0" fontAlgn="base" hangingPunct="0">
              <a:spcBef>
                <a:spcPct val="0"/>
              </a:spcBef>
              <a:spcAft>
                <a:spcPct val="0"/>
              </a:spcAft>
            </a:pPr>
            <a:r>
              <a:rPr lang="en-US" altLang="en-US" sz="2400" b="1" u="sng" dirty="0">
                <a:solidFill>
                  <a:srgbClr val="0070C0"/>
                </a:solidFill>
                <a:latin typeface="Arial" panose="020B0604020202020204" pitchFamily="34" charset="0"/>
              </a:rPr>
              <a:t>Challenges</a:t>
            </a:r>
            <a:endParaRPr lang="en-US" altLang="en-US" sz="24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Handling complex and varied data.</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Ensuring data privacy and regulatory compliance.</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Risk of </a:t>
            </a:r>
            <a:r>
              <a:rPr lang="en-US" altLang="en-US" sz="2400" b="1" dirty="0">
                <a:latin typeface="Arial" panose="020B0604020202020204" pitchFamily="34" charset="0"/>
              </a:rPr>
              <a:t>LLM hallucinations</a:t>
            </a:r>
            <a:r>
              <a:rPr lang="en-US" altLang="en-US" sz="2400" dirty="0">
                <a:latin typeface="Arial" panose="020B0604020202020204" pitchFamily="34" charset="0"/>
              </a:rPr>
              <a:t> (inaccurate outputs).</a:t>
            </a:r>
          </a:p>
          <a:p>
            <a:pPr lvl="0" defTabSz="914400" eaLnBrk="0" fontAlgn="base" hangingPunct="0">
              <a:spcBef>
                <a:spcPct val="0"/>
              </a:spcBef>
              <a:spcAft>
                <a:spcPct val="0"/>
              </a:spcAft>
            </a:pPr>
            <a:r>
              <a:rPr lang="en-US" altLang="en-US" sz="2400" b="1" u="sng" dirty="0">
                <a:solidFill>
                  <a:srgbClr val="0070C0"/>
                </a:solidFill>
                <a:latin typeface="Arial" panose="020B0604020202020204" pitchFamily="34" charset="0"/>
              </a:rPr>
              <a:t>Future Directions</a:t>
            </a:r>
            <a:endParaRPr lang="en-US" altLang="en-US" sz="24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Increase transparency, explainability, and robustness of AI models.</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Integrate </a:t>
            </a:r>
            <a:r>
              <a:rPr lang="en-US" altLang="en-US" sz="2400" b="1" dirty="0">
                <a:latin typeface="Arial" panose="020B0604020202020204" pitchFamily="34" charset="0"/>
              </a:rPr>
              <a:t>blockchain</a:t>
            </a:r>
            <a:r>
              <a:rPr lang="en-US" altLang="en-US" sz="2400" dirty="0">
                <a:latin typeface="Arial" panose="020B0604020202020204" pitchFamily="34" charset="0"/>
              </a:rPr>
              <a:t> for secure, auditable claim processing.</a:t>
            </a:r>
          </a:p>
          <a:p>
            <a:endParaRPr lang="en-IN" sz="2400" dirty="0"/>
          </a:p>
        </p:txBody>
      </p:sp>
    </p:spTree>
    <p:extLst>
      <p:ext uri="{BB962C8B-B14F-4D97-AF65-F5344CB8AC3E}">
        <p14:creationId xmlns:p14="http://schemas.microsoft.com/office/powerpoint/2010/main" val="1740916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61343D9-8396-E404-BBC7-EDD1ECE8469B}"/>
              </a:ext>
            </a:extLst>
          </p:cNvPr>
          <p:cNvSpPr txBox="1"/>
          <p:nvPr/>
        </p:nvSpPr>
        <p:spPr>
          <a:xfrm>
            <a:off x="589935" y="383458"/>
            <a:ext cx="11012130" cy="830997"/>
          </a:xfrm>
          <a:prstGeom prst="rect">
            <a:avLst/>
          </a:prstGeom>
          <a:noFill/>
        </p:spPr>
        <p:txBody>
          <a:bodyPr wrap="square" rtlCol="0">
            <a:spAutoFit/>
          </a:bodyPr>
          <a:lstStyle/>
          <a:p>
            <a:pPr algn="ctr"/>
            <a:r>
              <a:rPr lang="en-US" sz="2400" b="1" u="sng" dirty="0">
                <a:solidFill>
                  <a:schemeClr val="accent5"/>
                </a:solidFill>
                <a:latin typeface="Aptos Narrow" panose="020B0004020202020204" pitchFamily="34" charset="0"/>
              </a:rPr>
              <a:t>APPLICATIONS OF ARTIFICIAL INTELLIGENCE IN COMPANY MANAGEMENT, </a:t>
            </a:r>
          </a:p>
          <a:p>
            <a:pPr algn="ctr"/>
            <a:r>
              <a:rPr lang="en-US" sz="2400" b="1" u="sng" dirty="0">
                <a:solidFill>
                  <a:schemeClr val="accent5"/>
                </a:solidFill>
                <a:latin typeface="Aptos Narrow" panose="020B0004020202020204" pitchFamily="34" charset="0"/>
              </a:rPr>
              <a:t>E-COMMERCE, AND FINANCE</a:t>
            </a:r>
            <a:r>
              <a:rPr lang="en-US" sz="2400" b="1" u="sng" dirty="0">
                <a:solidFill>
                  <a:schemeClr val="accent5"/>
                </a:solidFill>
              </a:rPr>
              <a:t>(research paper):-</a:t>
            </a:r>
            <a:endParaRPr lang="en-IN" sz="2400" b="1" u="sng" dirty="0">
              <a:solidFill>
                <a:schemeClr val="accent5"/>
              </a:solidFill>
              <a:latin typeface="Aptos Narrow" panose="020B0004020202020204" pitchFamily="34" charset="0"/>
            </a:endParaRPr>
          </a:p>
        </p:txBody>
      </p:sp>
      <p:sp>
        <p:nvSpPr>
          <p:cNvPr id="3" name="TextBox 2">
            <a:extLst>
              <a:ext uri="{FF2B5EF4-FFF2-40B4-BE49-F238E27FC236}">
                <a16:creationId xmlns:a16="http://schemas.microsoft.com/office/drawing/2014/main" id="{CA2EB714-2710-8E0C-8471-A68D391ADAFA}"/>
              </a:ext>
            </a:extLst>
          </p:cNvPr>
          <p:cNvSpPr txBox="1"/>
          <p:nvPr/>
        </p:nvSpPr>
        <p:spPr>
          <a:xfrm>
            <a:off x="462116" y="1214455"/>
            <a:ext cx="11267768" cy="5539978"/>
          </a:xfrm>
          <a:prstGeom prst="rect">
            <a:avLst/>
          </a:prstGeom>
          <a:noFill/>
        </p:spPr>
        <p:txBody>
          <a:bodyPr wrap="square" rtlCol="0">
            <a:spAutoFit/>
          </a:bodyPr>
          <a:lstStyle/>
          <a:p>
            <a:pPr lvl="0" defTabSz="914400" eaLnBrk="0" fontAlgn="base" hangingPunct="0">
              <a:spcBef>
                <a:spcPct val="0"/>
              </a:spcBef>
              <a:spcAft>
                <a:spcPct val="0"/>
              </a:spcAft>
            </a:pPr>
            <a:r>
              <a:rPr lang="en-US" altLang="en-US" sz="2000" b="1" u="sng" dirty="0">
                <a:solidFill>
                  <a:srgbClr val="0070C0"/>
                </a:solidFill>
                <a:latin typeface="Arial" panose="020B0604020202020204" pitchFamily="34" charset="0"/>
              </a:rPr>
              <a:t>Overall Scope</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AI/ML applied in </a:t>
            </a:r>
            <a:r>
              <a:rPr lang="en-US" altLang="en-US" sz="2000" b="1" dirty="0">
                <a:latin typeface="Arial" panose="020B0604020202020204" pitchFamily="34" charset="0"/>
              </a:rPr>
              <a:t>business management, e-commerce, and finance</a:t>
            </a:r>
            <a:r>
              <a:rPr lang="en-US" altLang="en-US" sz="2000" dirty="0">
                <a:latin typeface="Arial" panose="020B0604020202020204" pitchFamily="34" charset="0"/>
              </a:rPr>
              <a:t>.</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Enhances </a:t>
            </a:r>
            <a:r>
              <a:rPr lang="en-US" altLang="en-US" sz="2000" b="1" dirty="0">
                <a:latin typeface="Arial" panose="020B0604020202020204" pitchFamily="34" charset="0"/>
              </a:rPr>
              <a:t>customer experience, supply chain management, operational efficiency, and cost reduction</a:t>
            </a:r>
            <a:r>
              <a:rPr lang="en-US" altLang="en-US" sz="2000" dirty="0">
                <a:latin typeface="Arial" panose="020B0604020202020204" pitchFamily="34" charset="0"/>
              </a:rPr>
              <a:t>.</a:t>
            </a:r>
          </a:p>
          <a:p>
            <a:pPr lvl="0" defTabSz="914400" eaLnBrk="0" fontAlgn="base" hangingPunct="0">
              <a:spcBef>
                <a:spcPct val="0"/>
              </a:spcBef>
              <a:spcAft>
                <a:spcPct val="0"/>
              </a:spcAft>
            </a:pPr>
            <a:endParaRPr lang="en-US" altLang="en-US" sz="2000" dirty="0">
              <a:latin typeface="Arial" panose="020B0604020202020204" pitchFamily="34" charset="0"/>
            </a:endParaRPr>
          </a:p>
          <a:p>
            <a:pPr lvl="0" defTabSz="914400" eaLnBrk="0" fontAlgn="base" hangingPunct="0">
              <a:spcBef>
                <a:spcPct val="0"/>
              </a:spcBef>
              <a:spcAft>
                <a:spcPct val="0"/>
              </a:spcAft>
            </a:pPr>
            <a:r>
              <a:rPr lang="en-US" altLang="en-US" sz="2000" b="1" u="sng" dirty="0">
                <a:solidFill>
                  <a:srgbClr val="0070C0"/>
                </a:solidFill>
                <a:latin typeface="Arial" panose="020B0604020202020204" pitchFamily="34" charset="0"/>
              </a:rPr>
              <a:t>Techniques Used</a:t>
            </a:r>
            <a:endParaRPr lang="en-US" altLang="en-US" sz="20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000" dirty="0">
                <a:latin typeface="Arial" panose="020B0604020202020204" pitchFamily="34" charset="0"/>
              </a:rPr>
              <a:t>Deep Learning and Neural Networks.</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Clustering, Support Vector Machines.</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Applied for </a:t>
            </a:r>
            <a:r>
              <a:rPr lang="en-US" altLang="en-US" sz="2000" b="1" dirty="0">
                <a:latin typeface="Arial" panose="020B0604020202020204" pitchFamily="34" charset="0"/>
              </a:rPr>
              <a:t>classification, prediction, fraud detection</a:t>
            </a:r>
            <a:r>
              <a:rPr lang="en-US" altLang="en-US" sz="2000" dirty="0">
                <a:latin typeface="Arial" panose="020B0604020202020204" pitchFamily="34" charset="0"/>
              </a:rPr>
              <a:t>.</a:t>
            </a:r>
          </a:p>
          <a:p>
            <a:pPr lvl="0" defTabSz="914400" eaLnBrk="0" fontAlgn="base" hangingPunct="0">
              <a:spcBef>
                <a:spcPct val="0"/>
              </a:spcBef>
              <a:spcAft>
                <a:spcPct val="0"/>
              </a:spcAft>
              <a:buFontTx/>
              <a:buChar char="•"/>
            </a:pPr>
            <a:endParaRPr lang="en-US" altLang="en-US" sz="2000" dirty="0">
              <a:latin typeface="Arial" panose="020B0604020202020204" pitchFamily="34" charset="0"/>
            </a:endParaRPr>
          </a:p>
          <a:p>
            <a:pPr lvl="0" defTabSz="914400" eaLnBrk="0" fontAlgn="base" hangingPunct="0">
              <a:spcBef>
                <a:spcPct val="0"/>
              </a:spcBef>
              <a:spcAft>
                <a:spcPct val="0"/>
              </a:spcAft>
            </a:pPr>
            <a:r>
              <a:rPr lang="en-US" altLang="en-US" sz="2000" b="1" u="sng" dirty="0">
                <a:solidFill>
                  <a:srgbClr val="0070C0"/>
                </a:solidFill>
                <a:latin typeface="Arial" panose="020B0604020202020204" pitchFamily="34" charset="0"/>
              </a:rPr>
              <a:t>Applications in Finance</a:t>
            </a:r>
            <a:endParaRPr lang="en-US" altLang="en-US" sz="20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000" dirty="0">
                <a:latin typeface="Arial" panose="020B0604020202020204" pitchFamily="34" charset="0"/>
              </a:rPr>
              <a:t>Credit scoring &amp; loan underwriting.</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Portfolio management &amp; risk assessment.</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Fraud detection.</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Algorithmic trading.</a:t>
            </a:r>
          </a:p>
          <a:p>
            <a:pPr lvl="0" defTabSz="914400" eaLnBrk="0" fontAlgn="base" hangingPunct="0">
              <a:spcBef>
                <a:spcPct val="0"/>
              </a:spcBef>
              <a:spcAft>
                <a:spcPct val="0"/>
              </a:spcAft>
            </a:pPr>
            <a:endParaRPr lang="en-US" altLang="en-US" dirty="0">
              <a:latin typeface="Arial" panose="020B0604020202020204" pitchFamily="34" charset="0"/>
            </a:endParaRPr>
          </a:p>
          <a:p>
            <a:pPr lvl="0" defTabSz="914400" eaLnBrk="0" fontAlgn="base" hangingPunct="0">
              <a:spcBef>
                <a:spcPct val="0"/>
              </a:spcBef>
              <a:spcAft>
                <a:spcPct val="0"/>
              </a:spcAft>
            </a:pPr>
            <a:endParaRPr lang="en-US" altLang="en-US" dirty="0">
              <a:latin typeface="Arial" panose="020B0604020202020204" pitchFamily="34" charset="0"/>
            </a:endParaRPr>
          </a:p>
          <a:p>
            <a:endParaRPr lang="en-IN" dirty="0"/>
          </a:p>
        </p:txBody>
      </p:sp>
    </p:spTree>
    <p:extLst>
      <p:ext uri="{BB962C8B-B14F-4D97-AF65-F5344CB8AC3E}">
        <p14:creationId xmlns:p14="http://schemas.microsoft.com/office/powerpoint/2010/main" val="1491368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AE8DE9-FBF9-8E52-2B98-E9EFCBD41C3A}"/>
              </a:ext>
            </a:extLst>
          </p:cNvPr>
          <p:cNvSpPr txBox="1"/>
          <p:nvPr/>
        </p:nvSpPr>
        <p:spPr>
          <a:xfrm>
            <a:off x="648929" y="471948"/>
            <a:ext cx="11130116" cy="4431983"/>
          </a:xfrm>
          <a:prstGeom prst="rect">
            <a:avLst/>
          </a:prstGeom>
          <a:noFill/>
        </p:spPr>
        <p:txBody>
          <a:bodyPr wrap="square" rtlCol="0">
            <a:spAutoFit/>
          </a:bodyPr>
          <a:lstStyle/>
          <a:p>
            <a:pPr lvl="0" defTabSz="914400" eaLnBrk="0" fontAlgn="base" hangingPunct="0">
              <a:spcBef>
                <a:spcPct val="0"/>
              </a:spcBef>
              <a:spcAft>
                <a:spcPct val="0"/>
              </a:spcAft>
            </a:pPr>
            <a:r>
              <a:rPr lang="en-US" altLang="en-US" sz="2400" b="1" u="sng" dirty="0">
                <a:solidFill>
                  <a:srgbClr val="0070C0"/>
                </a:solidFill>
                <a:latin typeface="Arial" panose="020B0604020202020204" pitchFamily="34" charset="0"/>
              </a:rPr>
              <a:t>Challenges</a:t>
            </a:r>
            <a:endParaRPr lang="en-US" altLang="en-US" sz="24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High Research &amp; Development costs.</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Fragmented &amp; inconsistent data(unorganized).</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Lack of understanding of Key Performance Indicators (KPIs).</a:t>
            </a:r>
          </a:p>
          <a:p>
            <a:pPr lvl="0" defTabSz="914400" eaLnBrk="0" fontAlgn="base" hangingPunct="0">
              <a:spcBef>
                <a:spcPct val="0"/>
              </a:spcBef>
              <a:spcAft>
                <a:spcPct val="0"/>
              </a:spcAft>
              <a:buFontTx/>
              <a:buChar char="•"/>
            </a:pPr>
            <a:endParaRPr lang="en-US" altLang="en-US" sz="2400" dirty="0">
              <a:latin typeface="Arial" panose="020B0604020202020204" pitchFamily="34" charset="0"/>
            </a:endParaRPr>
          </a:p>
          <a:p>
            <a:pPr lvl="0" defTabSz="914400" eaLnBrk="0" fontAlgn="base" hangingPunct="0">
              <a:spcBef>
                <a:spcPct val="0"/>
              </a:spcBef>
              <a:spcAft>
                <a:spcPct val="0"/>
              </a:spcAft>
            </a:pPr>
            <a:endParaRPr lang="en-US" altLang="en-US" sz="2400" dirty="0">
              <a:latin typeface="Arial" panose="020B0604020202020204" pitchFamily="34" charset="0"/>
            </a:endParaRPr>
          </a:p>
          <a:p>
            <a:pPr lvl="0" defTabSz="914400" eaLnBrk="0" fontAlgn="base" hangingPunct="0">
              <a:spcBef>
                <a:spcPct val="0"/>
              </a:spcBef>
              <a:spcAft>
                <a:spcPct val="0"/>
              </a:spcAft>
            </a:pPr>
            <a:r>
              <a:rPr lang="en-US" altLang="en-US" sz="2400" b="1" u="sng" dirty="0">
                <a:solidFill>
                  <a:srgbClr val="0070C0"/>
                </a:solidFill>
                <a:latin typeface="Arial" panose="020B0604020202020204" pitchFamily="34" charset="0"/>
              </a:rPr>
              <a:t>Future Impact</a:t>
            </a:r>
            <a:endParaRPr lang="en-US" altLang="en-US" sz="2400" u="sng" dirty="0">
              <a:solidFill>
                <a:srgbClr val="0070C0"/>
              </a:solidFill>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Stronger forecasting &amp; predictive analytics.</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Improved security.</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Enhanced customer engagement.</a:t>
            </a:r>
          </a:p>
          <a:p>
            <a:pPr lvl="0" defTabSz="914400" eaLnBrk="0" fontAlgn="base" hangingPunct="0">
              <a:spcBef>
                <a:spcPct val="0"/>
              </a:spcBef>
              <a:spcAft>
                <a:spcPct val="0"/>
              </a:spcAft>
              <a:buFontTx/>
              <a:buChar char="•"/>
            </a:pPr>
            <a:r>
              <a:rPr lang="en-US" altLang="en-US" sz="2400" dirty="0">
                <a:latin typeface="Arial" panose="020B0604020202020204" pitchFamily="34" charset="0"/>
              </a:rPr>
              <a:t>Greater automation → </a:t>
            </a:r>
            <a:r>
              <a:rPr lang="en-US" altLang="en-US" sz="2400" b="1" dirty="0">
                <a:latin typeface="Arial" panose="020B0604020202020204" pitchFamily="34" charset="0"/>
              </a:rPr>
              <a:t>more intelligent, efficient systems</a:t>
            </a:r>
            <a:r>
              <a:rPr lang="en-US" altLang="en-US" sz="2400" dirty="0">
                <a:latin typeface="Arial" panose="020B0604020202020204" pitchFamily="34" charset="0"/>
              </a:rPr>
              <a:t>.</a:t>
            </a:r>
          </a:p>
          <a:p>
            <a:endParaRPr lang="en-IN" dirty="0"/>
          </a:p>
        </p:txBody>
      </p:sp>
    </p:spTree>
    <p:extLst>
      <p:ext uri="{BB962C8B-B14F-4D97-AF65-F5344CB8AC3E}">
        <p14:creationId xmlns:p14="http://schemas.microsoft.com/office/powerpoint/2010/main" val="2807111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A31B98-6C7E-3422-2825-1B1ECAA5BC55}"/>
              </a:ext>
            </a:extLst>
          </p:cNvPr>
          <p:cNvSpPr txBox="1"/>
          <p:nvPr/>
        </p:nvSpPr>
        <p:spPr>
          <a:xfrm>
            <a:off x="540774" y="589503"/>
            <a:ext cx="10795819" cy="707886"/>
          </a:xfrm>
          <a:prstGeom prst="rect">
            <a:avLst/>
          </a:prstGeom>
          <a:noFill/>
        </p:spPr>
        <p:txBody>
          <a:bodyPr wrap="square" rtlCol="0">
            <a:spAutoFit/>
          </a:bodyPr>
          <a:lstStyle/>
          <a:p>
            <a:r>
              <a:rPr lang="en-IN" sz="4000" dirty="0">
                <a:solidFill>
                  <a:srgbClr val="FF0000"/>
                </a:solidFill>
              </a:rPr>
              <a:t>ADVANTAGES:-</a:t>
            </a:r>
          </a:p>
        </p:txBody>
      </p:sp>
      <p:sp>
        <p:nvSpPr>
          <p:cNvPr id="4" name="Rectangle 2">
            <a:extLst>
              <a:ext uri="{FF2B5EF4-FFF2-40B4-BE49-F238E27FC236}">
                <a16:creationId xmlns:a16="http://schemas.microsoft.com/office/drawing/2014/main" id="{DE822C4F-E2BC-85D0-A668-DE83E5557AC7}"/>
              </a:ext>
            </a:extLst>
          </p:cNvPr>
          <p:cNvSpPr>
            <a:spLocks noChangeArrowheads="1"/>
          </p:cNvSpPr>
          <p:nvPr/>
        </p:nvSpPr>
        <p:spPr bwMode="auto">
          <a:xfrm>
            <a:off x="122903" y="1448029"/>
            <a:ext cx="1163155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Personalization</a:t>
            </a:r>
            <a:r>
              <a:rPr kumimoji="0" lang="en-US" altLang="en-US" sz="2000" b="0" i="0" u="none" strike="noStrike" cap="none" normalizeH="0" baseline="0" dirty="0">
                <a:ln>
                  <a:noFill/>
                </a:ln>
                <a:solidFill>
                  <a:schemeClr val="tx1"/>
                </a:solidFill>
                <a:effectLst/>
                <a:latin typeface="Arial" panose="020B0604020202020204" pitchFamily="34" charset="0"/>
              </a:rPr>
              <a:t> – Matches policies to individual needs, improving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Time-saving</a:t>
            </a:r>
            <a:r>
              <a:rPr kumimoji="0" lang="en-US" altLang="en-US" sz="2000" b="0" i="0" u="none" strike="noStrike" cap="none" normalizeH="0" baseline="0" dirty="0">
                <a:ln>
                  <a:noFill/>
                </a:ln>
                <a:solidFill>
                  <a:schemeClr val="tx1"/>
                </a:solidFill>
                <a:effectLst/>
                <a:latin typeface="Arial" panose="020B0604020202020204" pitchFamily="34" charset="0"/>
              </a:rPr>
              <a:t> – Reduces the need to manually compare dozens of policy documents.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Better decision-making</a:t>
            </a:r>
            <a:r>
              <a:rPr kumimoji="0" lang="en-US" altLang="en-US" sz="2000" b="0" i="0" u="none" strike="noStrike" cap="none" normalizeH="0" baseline="0" dirty="0">
                <a:ln>
                  <a:noFill/>
                </a:ln>
                <a:solidFill>
                  <a:schemeClr val="tx1"/>
                </a:solidFill>
                <a:effectLst/>
                <a:latin typeface="Arial" panose="020B0604020202020204" pitchFamily="34" charset="0"/>
              </a:rPr>
              <a:t> – Helps users understand complex policy terms in simple language.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Higher sales conversion</a:t>
            </a:r>
            <a:r>
              <a:rPr kumimoji="0" lang="en-US" altLang="en-US" sz="2000" b="0" i="0" u="none" strike="noStrike" cap="none" normalizeH="0" baseline="0" dirty="0">
                <a:ln>
                  <a:noFill/>
                </a:ln>
                <a:solidFill>
                  <a:schemeClr val="tx1"/>
                </a:solidFill>
                <a:effectLst/>
                <a:latin typeface="Arial" panose="020B0604020202020204" pitchFamily="34" charset="0"/>
              </a:rPr>
              <a:t> – Tailored recommendations increase the chance of customers buying policies</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Faster claim settlement</a:t>
            </a:r>
            <a:r>
              <a:rPr lang="en-US" altLang="en-US" sz="2000" dirty="0">
                <a:latin typeface="Arial" panose="020B0604020202020204" pitchFamily="34" charset="0"/>
              </a:rPr>
              <a:t> – Automates eligibility checks and document verification.</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Fraud detection</a:t>
            </a:r>
            <a:r>
              <a:rPr lang="en-US" altLang="en-US" sz="2000" dirty="0">
                <a:latin typeface="Arial" panose="020B0604020202020204" pitchFamily="34" charset="0"/>
              </a:rPr>
              <a:t> – Protects insurance companies from financial losses caused by fraudulent claims.</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Consistency</a:t>
            </a:r>
            <a:r>
              <a:rPr lang="en-US" altLang="en-US" sz="2000" dirty="0">
                <a:latin typeface="Arial" panose="020B0604020202020204" pitchFamily="34" charset="0"/>
              </a:rPr>
              <a:t> – Eliminates human bias/errors in claim evaluation.</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Instant feedback</a:t>
            </a:r>
            <a:r>
              <a:rPr lang="en-US" altLang="en-US" sz="2000" dirty="0">
                <a:latin typeface="Arial" panose="020B0604020202020204" pitchFamily="34" charset="0"/>
              </a:rPr>
              <a:t> – Customers know claim status immediately, improving transparency.</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User convenience</a:t>
            </a:r>
            <a:r>
              <a:rPr lang="en-US" altLang="en-US" sz="2000" dirty="0">
                <a:latin typeface="Arial" panose="020B0604020202020204" pitchFamily="34" charset="0"/>
              </a:rPr>
              <a:t> – Accessible via mobile or web apps anytime, anywhere.</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Improved customer trust</a:t>
            </a:r>
            <a:r>
              <a:rPr lang="en-US" altLang="en-US" sz="2000" dirty="0">
                <a:latin typeface="Arial" panose="020B0604020202020204" pitchFamily="34" charset="0"/>
              </a:rPr>
              <a:t> – Transparency and faster processing builds reliability.</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Scalability</a:t>
            </a:r>
            <a:r>
              <a:rPr lang="en-US" altLang="en-US" sz="2000" dirty="0">
                <a:latin typeface="Arial" panose="020B0604020202020204" pitchFamily="34" charset="0"/>
              </a:rPr>
              <a:t> – Can handle large volumes of customers and claims simultaneously.</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Cost efficiency</a:t>
            </a:r>
            <a:r>
              <a:rPr lang="en-US" altLang="en-US" sz="2000" dirty="0">
                <a:latin typeface="Arial" panose="020B0604020202020204" pitchFamily="34" charset="0"/>
              </a:rPr>
              <a:t> – Reduces administrative workload and operational costs.</a:t>
            </a:r>
          </a:p>
          <a:p>
            <a:pPr lvl="0" defTabSz="914400" eaLnBrk="0" fontAlgn="base" hangingPunct="0">
              <a:spcBef>
                <a:spcPct val="0"/>
              </a:spcBef>
              <a:spcAft>
                <a:spcPct val="0"/>
              </a:spcAft>
              <a:buFontTx/>
              <a:buChar char="•"/>
            </a:pPr>
            <a:r>
              <a:rPr lang="en-US" altLang="en-US" sz="2000" b="1" dirty="0">
                <a:latin typeface="Arial" panose="020B0604020202020204" pitchFamily="34" charset="0"/>
              </a:rPr>
              <a:t>Real-time support</a:t>
            </a:r>
            <a:r>
              <a:rPr lang="en-US" altLang="en-US" sz="2000" dirty="0">
                <a:latin typeface="Arial" panose="020B0604020202020204" pitchFamily="34" charset="0"/>
              </a:rPr>
              <a:t> – Chatbot handles FAQs, reducing call center dependency.</a:t>
            </a:r>
          </a:p>
          <a:p>
            <a:pPr lvl="0" defTabSz="914400" eaLnBrk="0" fontAlgn="base" hangingPunct="0">
              <a:spcBef>
                <a:spcPct val="0"/>
              </a:spcBef>
              <a:spcAft>
                <a:spcPct val="0"/>
              </a:spcAft>
              <a:buFontTx/>
              <a:buChar char="•"/>
            </a:pPr>
            <a:endParaRPr lang="en-US" altLang="en-US" sz="2000" dirty="0">
              <a:latin typeface="Arial" panose="020B0604020202020204" pitchFamily="34" charset="0"/>
            </a:endParaRPr>
          </a:p>
          <a:p>
            <a:pPr lvl="0" defTabSz="914400" eaLnBrk="0" fontAlgn="base" hangingPunct="0">
              <a:spcBef>
                <a:spcPct val="0"/>
              </a:spcBef>
              <a:spcAft>
                <a:spcPct val="0"/>
              </a:spcAft>
              <a:buFontTx/>
              <a:buChar char="•"/>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2306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5F6EA0-BD7E-8B6D-6BDE-91E2FF52260F}"/>
              </a:ext>
            </a:extLst>
          </p:cNvPr>
          <p:cNvSpPr>
            <a:spLocks noGrp="1"/>
          </p:cNvSpPr>
          <p:nvPr>
            <p:ph idx="1"/>
          </p:nvPr>
        </p:nvSpPr>
        <p:spPr>
          <a:xfrm>
            <a:off x="677333" y="481781"/>
            <a:ext cx="10344627" cy="5559581"/>
          </a:xfrm>
        </p:spPr>
        <p:txBody>
          <a:bodyPr/>
          <a:lstStyle/>
          <a:p>
            <a:pPr marL="0" indent="0" algn="ctr">
              <a:buNone/>
            </a:pPr>
            <a:r>
              <a:rPr lang="en-US" sz="2400" b="1" u="sng" dirty="0">
                <a:solidFill>
                  <a:srgbClr val="FF0000"/>
                </a:solidFill>
                <a:effectLst>
                  <a:outerShdw blurRad="38100" dist="38100" dir="2700000" algn="tl">
                    <a:srgbClr val="000000">
                      <a:alpha val="43137"/>
                    </a:srgbClr>
                  </a:outerShdw>
                  <a:reflection blurRad="6350" stA="53000" endA="300" endPos="35500" dir="5400000" sy="-90000" algn="bl"/>
                </a:effectLst>
              </a:rPr>
              <a:t>REAL-LIFE difference created by our application: -</a:t>
            </a:r>
          </a:p>
          <a:p>
            <a:pPr marL="0" indent="0" algn="ctr">
              <a:buNone/>
            </a:pPr>
            <a:endParaRPr lang="en-IN" sz="2400" b="1" u="sng" dirty="0">
              <a:solidFill>
                <a:srgbClr val="FF0000"/>
              </a:solidFill>
              <a:effectLst>
                <a:outerShdw blurRad="38100" dist="38100" dir="2700000" algn="tl">
                  <a:srgbClr val="000000">
                    <a:alpha val="43137"/>
                  </a:srgbClr>
                </a:outerShdw>
                <a:reflection blurRad="6350" stA="53000" endA="300" endPos="35500" dir="5400000" sy="-90000" algn="bl"/>
              </a:effectLst>
            </a:endParaRPr>
          </a:p>
          <a:p>
            <a:r>
              <a:rPr lang="en-IN" sz="2400" dirty="0"/>
              <a:t>  “Reduces claim rejection confusion by 40%”</a:t>
            </a:r>
          </a:p>
          <a:p>
            <a:r>
              <a:rPr lang="en-IN" sz="2400" dirty="0"/>
              <a:t>  “Helps 70% of rural users find a relevant policy within 3 clicks”</a:t>
            </a:r>
          </a:p>
          <a:p>
            <a:r>
              <a:rPr lang="en-IN" sz="2400" dirty="0"/>
              <a:t> “Cuts manual paperwork by 30% for insurance officers”</a:t>
            </a:r>
          </a:p>
          <a:p>
            <a:endParaRPr lang="en-IN" dirty="0"/>
          </a:p>
        </p:txBody>
      </p:sp>
    </p:spTree>
    <p:extLst>
      <p:ext uri="{BB962C8B-B14F-4D97-AF65-F5344CB8AC3E}">
        <p14:creationId xmlns:p14="http://schemas.microsoft.com/office/powerpoint/2010/main" val="2297046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8DCA51-1C97-126A-0F4F-895279149CA3}"/>
              </a:ext>
            </a:extLst>
          </p:cNvPr>
          <p:cNvSpPr txBox="1"/>
          <p:nvPr/>
        </p:nvSpPr>
        <p:spPr>
          <a:xfrm>
            <a:off x="555522" y="452285"/>
            <a:ext cx="11080955" cy="1200329"/>
          </a:xfrm>
          <a:prstGeom prst="rect">
            <a:avLst/>
          </a:prstGeom>
          <a:noFill/>
        </p:spPr>
        <p:txBody>
          <a:bodyPr wrap="square" rtlCol="0">
            <a:spAutoFit/>
          </a:bodyPr>
          <a:lstStyle/>
          <a:p>
            <a:pPr algn="ctr"/>
            <a:r>
              <a:rPr lang="en-US" sz="7200" dirty="0">
                <a:solidFill>
                  <a:schemeClr val="accent5"/>
                </a:solidFill>
              </a:rPr>
              <a:t>THANK YOU</a:t>
            </a:r>
            <a:endParaRPr lang="en-IN" sz="7200" dirty="0">
              <a:solidFill>
                <a:schemeClr val="accent5"/>
              </a:solidFill>
            </a:endParaRPr>
          </a:p>
        </p:txBody>
      </p:sp>
      <p:pic>
        <p:nvPicPr>
          <p:cNvPr id="2050" name="Picture 2" descr="Generated image">
            <a:extLst>
              <a:ext uri="{FF2B5EF4-FFF2-40B4-BE49-F238E27FC236}">
                <a16:creationId xmlns:a16="http://schemas.microsoft.com/office/drawing/2014/main" id="{B76CF9AF-4A59-5495-7376-342814EDE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0589" y="1868127"/>
            <a:ext cx="9115733" cy="4792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408014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176</TotalTime>
  <Words>1184</Words>
  <Application>Microsoft Office PowerPoint</Application>
  <PresentationFormat>Widescreen</PresentationFormat>
  <Paragraphs>141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 Narrow</vt:lpstr>
      <vt:lpstr>Arial</vt:lpstr>
      <vt:lpstr>Calibri</vt:lpstr>
      <vt:lpstr>Times New Roman</vt:lpstr>
      <vt:lpstr>Trebuchet MS</vt:lpstr>
      <vt:lpstr>Wingdings 3</vt:lpstr>
      <vt:lpstr>Facet</vt:lpstr>
      <vt:lpstr>PowerPoint Presentation</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BHUVAN KK</dc:creator>
  <cp:lastModifiedBy>BHUVAN KK</cp:lastModifiedBy>
  <cp:revision>4</cp:revision>
  <dcterms:created xsi:type="dcterms:W3CDTF">2025-09-10T16:30:12Z</dcterms:created>
  <dcterms:modified xsi:type="dcterms:W3CDTF">2025-09-15T09:40:32Z</dcterms:modified>
</cp:coreProperties>
</file>